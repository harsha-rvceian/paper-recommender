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F73642-CAFB-45F4-9263-3C3A14994B2B}">
  <a:tblStyle styleId="{74F73642-CAFB-45F4-9263-3C3A14994B2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0B8081E-C53F-46DD-AE82-72A89A21623C}" styleName="Table_1">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507264F-88E3-4761-9C47-0DDB5E57D269}"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6684bb9f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c6684bb9f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6580d41a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c6580d41a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6580d41a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c6580d41a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6580d41a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c6580d41a5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6580d41a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c6580d41a5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b="0" l="0" r="0" t="0"/>
          <a:stretch/>
        </p:blipFill>
        <p:spPr>
          <a:xfrm>
            <a:off x="6858544" y="220225"/>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91725" y="93410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3"/>
          <p:cNvSpPr txBox="1"/>
          <p:nvPr>
            <p:ph idx="1" type="body"/>
          </p:nvPr>
        </p:nvSpPr>
        <p:spPr>
          <a:xfrm>
            <a:off x="253250" y="1857500"/>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9" name="Google Shape;19;p3"/>
          <p:cNvPicPr preferRelativeResize="0"/>
          <p:nvPr/>
        </p:nvPicPr>
        <p:blipFill rotWithShape="1">
          <a:blip r:embed="rId2">
            <a:alphaModFix/>
          </a:blip>
          <a:srcRect b="0" l="0" r="0" t="0"/>
          <a:stretch/>
        </p:blipFill>
        <p:spPr>
          <a:xfrm>
            <a:off x="6983600" y="415175"/>
            <a:ext cx="1974051" cy="300175"/>
          </a:xfrm>
          <a:prstGeom prst="rect">
            <a:avLst/>
          </a:prstGeom>
          <a:noFill/>
          <a:ln>
            <a:noFill/>
          </a:ln>
        </p:spPr>
      </p:pic>
    </p:spTree>
  </p:cSld>
  <p:clrMapOvr>
    <a:masterClrMapping/>
  </p:clrMapOvr>
  <p:extLst>
    <p:ext uri="{DCECCB84-F9BA-43D5-87BE-67443E8EF086}">
      <p15:sldGuideLst>
        <p15:guide id="1" orient="horz" pos="41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
          <p:cNvSpPr txBox="1"/>
          <p:nvPr>
            <p:ph type="title"/>
          </p:nvPr>
        </p:nvSpPr>
        <p:spPr>
          <a:xfrm>
            <a:off x="391725" y="77650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
          <p:cNvSpPr txBox="1"/>
          <p:nvPr>
            <p:ph type="title"/>
          </p:nvPr>
        </p:nvSpPr>
        <p:spPr>
          <a:xfrm>
            <a:off x="391725" y="77650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theme" Target="../theme/theme1.xml"/><Relationship Id="rId12" Type="http://schemas.openxmlformats.org/officeDocument/2006/relationships/slideLayout" Target="../slideLayouts/slideLayout10.xml"/><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91725" y="776500"/>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506800"/>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
          <p:cNvPicPr preferRelativeResize="0"/>
          <p:nvPr/>
        </p:nvPicPr>
        <p:blipFill rotWithShape="1">
          <a:blip r:embed="rId2">
            <a:alphaModFix/>
          </a:blip>
          <a:srcRect b="0" l="0" r="0" t="0"/>
          <a:stretch/>
        </p:blipFill>
        <p:spPr>
          <a:xfrm>
            <a:off x="216000" y="216000"/>
            <a:ext cx="1507681" cy="647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2"/>
          <p:cNvSpPr txBox="1"/>
          <p:nvPr/>
        </p:nvSpPr>
        <p:spPr>
          <a:xfrm>
            <a:off x="1118383" y="709466"/>
            <a:ext cx="67983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C00000"/>
                </a:solidFill>
                <a:latin typeface="Times New Roman"/>
                <a:ea typeface="Times New Roman"/>
                <a:cs typeface="Times New Roman"/>
                <a:sym typeface="Times New Roman"/>
              </a:rPr>
              <a:t>Keyword Utilized Research Paper Recommender</a:t>
            </a:r>
            <a:endParaRPr b="1" i="0" sz="3600" u="none" cap="none" strike="noStrike">
              <a:solidFill>
                <a:srgbClr val="C00000"/>
              </a:solidFill>
              <a:latin typeface="Times New Roman"/>
              <a:ea typeface="Times New Roman"/>
              <a:cs typeface="Times New Roman"/>
              <a:sym typeface="Times New Roman"/>
            </a:endParaRPr>
          </a:p>
        </p:txBody>
      </p:sp>
      <p:graphicFrame>
        <p:nvGraphicFramePr>
          <p:cNvPr id="55" name="Google Shape;55;p12"/>
          <p:cNvGraphicFramePr/>
          <p:nvPr/>
        </p:nvGraphicFramePr>
        <p:xfrm>
          <a:off x="1832514" y="3233705"/>
          <a:ext cx="3000000" cy="3000000"/>
        </p:xfrm>
        <a:graphic>
          <a:graphicData uri="http://schemas.openxmlformats.org/drawingml/2006/table">
            <a:tbl>
              <a:tblPr>
                <a:noFill/>
                <a:tableStyleId>{74F73642-CAFB-45F4-9263-3C3A14994B2B}</a:tableStyleId>
              </a:tblPr>
              <a:tblGrid>
                <a:gridCol w="3458425"/>
                <a:gridCol w="2090725"/>
              </a:tblGrid>
              <a:tr h="2684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AJAY C</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RVCE25BCI404</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84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ISIRI </a:t>
                      </a:r>
                      <a:endParaRPr b="1"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1RV24CI042</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84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MAYANK BAJAJ</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1RV24CI066</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84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HARSHA KS</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1RV24CI038</a:t>
                      </a:r>
                      <a:endParaRPr sz="1200" u="none" cap="none" strike="noStrike">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6" name="Google Shape;56;p12"/>
          <p:cNvSpPr txBox="1"/>
          <p:nvPr/>
        </p:nvSpPr>
        <p:spPr>
          <a:xfrm>
            <a:off x="2103325" y="1843672"/>
            <a:ext cx="4828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Data Structures and Applications Lab EL </a:t>
            </a:r>
            <a:endParaRPr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Course Code: IS233AI</a:t>
            </a:r>
            <a:endParaRPr b="1"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3"/>
          <p:cNvSpPr txBox="1"/>
          <p:nvPr>
            <p:ph idx="1" type="body"/>
          </p:nvPr>
        </p:nvSpPr>
        <p:spPr>
          <a:xfrm>
            <a:off x="-13447" y="872696"/>
            <a:ext cx="9144000" cy="3107634"/>
          </a:xfrm>
          <a:prstGeom prst="rect">
            <a:avLst/>
          </a:prstGeom>
          <a:noFill/>
          <a:ln>
            <a:noFill/>
          </a:ln>
        </p:spPr>
        <p:txBody>
          <a:bodyPr anchorCtr="0" anchor="t" bIns="91425" lIns="91425" spcFirstLastPara="1" rIns="91425" wrap="square" tIns="91425">
            <a:noAutofit/>
          </a:bodyPr>
          <a:lstStyle/>
          <a:p>
            <a:pPr indent="-342900" lvl="0" marL="457200" rtl="0" algn="l">
              <a:lnSpc>
                <a:spcPct val="90000"/>
              </a:lnSpc>
              <a:spcBef>
                <a:spcPts val="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The project focuses on a research paper recommendation system that helps users find relevant academic papers efficiently.</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SzPts val="1800"/>
              <a:buNone/>
            </a:pPr>
            <a:r>
              <a:t/>
            </a:r>
            <a:endParaRPr>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As the number of publications grows rapidly, efficient data organization becomes essential for fast search and meaningful ranking.</a:t>
            </a:r>
            <a:endParaRPr>
              <a:solidFill>
                <a:schemeClr val="dk1"/>
              </a:solidFill>
              <a:latin typeface="Times New Roman"/>
              <a:ea typeface="Times New Roman"/>
              <a:cs typeface="Times New Roman"/>
              <a:sym typeface="Times New Roman"/>
            </a:endParaRPr>
          </a:p>
          <a:p>
            <a:pPr indent="-228600" lvl="0" marL="457200" rtl="0" algn="l">
              <a:lnSpc>
                <a:spcPct val="90000"/>
              </a:lnSpc>
              <a:spcBef>
                <a:spcPts val="0"/>
              </a:spcBef>
              <a:spcAft>
                <a:spcPts val="0"/>
              </a:spcAft>
              <a:buSzPts val="1800"/>
              <a:buNone/>
            </a:pPr>
            <a:r>
              <a:t/>
            </a:r>
            <a:endParaRPr>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This problem was selected to demonstrate how data structures improve search efficiency, scalability, and performance.</a:t>
            </a:r>
            <a:endParaRPr>
              <a:solidFill>
                <a:schemeClr val="dk1"/>
              </a:solidFill>
              <a:latin typeface="Times New Roman"/>
              <a:ea typeface="Times New Roman"/>
              <a:cs typeface="Times New Roman"/>
              <a:sym typeface="Times New Roman"/>
            </a:endParaRPr>
          </a:p>
          <a:p>
            <a:pPr indent="-228600" lvl="0" marL="457200" rtl="0" algn="l">
              <a:lnSpc>
                <a:spcPct val="90000"/>
              </a:lnSpc>
              <a:spcBef>
                <a:spcPts val="0"/>
              </a:spcBef>
              <a:spcAft>
                <a:spcPts val="0"/>
              </a:spcAft>
              <a:buSzPts val="1800"/>
              <a:buNone/>
            </a:pPr>
            <a:r>
              <a:t/>
            </a:r>
            <a:endParaRPr>
              <a:solidFill>
                <a:schemeClr val="dk1"/>
              </a:solidFill>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Similar systems are widely used in academic search engines, digital libraries, and research portals, making it highly relevant to real-world applications.</a:t>
            </a:r>
            <a:endParaRPr>
              <a:solidFill>
                <a:schemeClr val="dk1"/>
              </a:solidFill>
              <a:latin typeface="Times New Roman"/>
              <a:ea typeface="Times New Roman"/>
              <a:cs typeface="Times New Roman"/>
              <a:sym typeface="Times New Roman"/>
            </a:endParaRPr>
          </a:p>
          <a:p>
            <a:pPr indent="-228600" lvl="0" marL="457200" rtl="0" algn="l">
              <a:lnSpc>
                <a:spcPct val="90000"/>
              </a:lnSpc>
              <a:spcBef>
                <a:spcPts val="0"/>
              </a:spcBef>
              <a:spcAft>
                <a:spcPts val="0"/>
              </a:spcAft>
              <a:buClr>
                <a:schemeClr val="dk2"/>
              </a:buClr>
              <a:buSzPts val="1800"/>
              <a:buNone/>
            </a:pPr>
            <a:r>
              <a:t/>
            </a:r>
            <a:endParaRPr>
              <a:solidFill>
                <a:schemeClr val="dk1"/>
              </a:solidFill>
              <a:latin typeface="Times New Roman"/>
              <a:ea typeface="Times New Roman"/>
              <a:cs typeface="Times New Roman"/>
              <a:sym typeface="Times New Roman"/>
            </a:endParaRPr>
          </a:p>
        </p:txBody>
      </p:sp>
      <p:sp>
        <p:nvSpPr>
          <p:cNvPr id="62" name="Google Shape;62;p13"/>
          <p:cNvSpPr txBox="1"/>
          <p:nvPr/>
        </p:nvSpPr>
        <p:spPr>
          <a:xfrm>
            <a:off x="2609385" y="193287"/>
            <a:ext cx="347082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INTRODUCTION</a:t>
            </a:r>
            <a:endParaRPr b="1" i="0" sz="32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1956604" y="183205"/>
            <a:ext cx="4979415"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PROBLEM STATEMENT</a:t>
            </a:r>
            <a:endParaRPr b="1" sz="2400">
              <a:solidFill>
                <a:srgbClr val="C00000"/>
              </a:solidFill>
              <a:latin typeface="Times New Roman"/>
              <a:ea typeface="Times New Roman"/>
              <a:cs typeface="Times New Roman"/>
              <a:sym typeface="Times New Roman"/>
            </a:endParaRPr>
          </a:p>
        </p:txBody>
      </p:sp>
      <p:sp>
        <p:nvSpPr>
          <p:cNvPr id="68" name="Google Shape;68;p14"/>
          <p:cNvSpPr txBox="1"/>
          <p:nvPr>
            <p:ph idx="1" type="body"/>
          </p:nvPr>
        </p:nvSpPr>
        <p:spPr>
          <a:xfrm>
            <a:off x="175950" y="755900"/>
            <a:ext cx="8899800" cy="43440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US">
                <a:solidFill>
                  <a:schemeClr val="dk1"/>
                </a:solidFill>
                <a:latin typeface="Times New Roman"/>
                <a:ea typeface="Times New Roman"/>
                <a:cs typeface="Times New Roman"/>
                <a:sym typeface="Times New Roman"/>
              </a:rPr>
              <a:t>Background of the Problem Domain</a:t>
            </a:r>
            <a:endParaRPr b="1">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Rapid growth of research publications has made it difficult to find relevant and high-quality papers efficiently.</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Simple keyword search often returns too many unranked results.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US">
                <a:solidFill>
                  <a:schemeClr val="dk1"/>
                </a:solidFill>
                <a:latin typeface="Times New Roman"/>
                <a:ea typeface="Times New Roman"/>
                <a:cs typeface="Times New Roman"/>
                <a:sym typeface="Times New Roman"/>
              </a:rPr>
              <a:t>Existing System / Traditional Approach</a:t>
            </a:r>
            <a:endParaRPr b="1">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Keyword-based search using titles or abstracts.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Manual filtering by users.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US">
                <a:solidFill>
                  <a:schemeClr val="dk1"/>
                </a:solidFill>
                <a:latin typeface="Times New Roman"/>
                <a:ea typeface="Times New Roman"/>
                <a:cs typeface="Times New Roman"/>
                <a:sym typeface="Times New Roman"/>
              </a:rPr>
              <a:t>Limitations / Challenges in Existing Solutions</a:t>
            </a:r>
            <a:endParaRPr b="1">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Ignores citation relationships between papers.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Treats all citations equally, without considering influence.</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Inefficient for large datasets due to linear searching.</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Poor ranking quality for research-oriented queries.</a:t>
            </a:r>
            <a:endParaRPr b="1" sz="17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1956604" y="183205"/>
            <a:ext cx="49794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PROBLEM STATEMENT</a:t>
            </a:r>
            <a:endParaRPr b="1" sz="2400">
              <a:solidFill>
                <a:srgbClr val="C00000"/>
              </a:solidFill>
              <a:latin typeface="Times New Roman"/>
              <a:ea typeface="Times New Roman"/>
              <a:cs typeface="Times New Roman"/>
              <a:sym typeface="Times New Roman"/>
            </a:endParaRPr>
          </a:p>
        </p:txBody>
      </p:sp>
      <p:sp>
        <p:nvSpPr>
          <p:cNvPr id="74" name="Google Shape;74;p15"/>
          <p:cNvSpPr txBox="1"/>
          <p:nvPr>
            <p:ph idx="1" type="body"/>
          </p:nvPr>
        </p:nvSpPr>
        <p:spPr>
          <a:xfrm>
            <a:off x="66725" y="919750"/>
            <a:ext cx="9009300" cy="41799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US">
                <a:solidFill>
                  <a:schemeClr val="dk1"/>
                </a:solidFill>
                <a:latin typeface="Times New Roman"/>
                <a:ea typeface="Times New Roman"/>
                <a:cs typeface="Times New Roman"/>
                <a:sym typeface="Times New Roman"/>
              </a:rPr>
              <a:t>Gap Identified</a:t>
            </a:r>
            <a:endParaRPr b="1">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Lack of systems that combine fast keyword search with graph-based importance analysis.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Limited use of data structures to optimize search and ranking.</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800"/>
              </a:spcBef>
              <a:spcAft>
                <a:spcPts val="0"/>
              </a:spcAft>
              <a:buNone/>
            </a:pPr>
            <a:r>
              <a:rPr b="1" lang="en-US">
                <a:solidFill>
                  <a:schemeClr val="dk1"/>
                </a:solidFill>
                <a:latin typeface="Times New Roman"/>
                <a:ea typeface="Times New Roman"/>
                <a:cs typeface="Times New Roman"/>
                <a:sym typeface="Times New Roman"/>
              </a:rPr>
              <a:t>Final Problem Statement</a:t>
            </a:r>
            <a:endParaRPr b="1">
              <a:solidFill>
                <a:schemeClr val="dk1"/>
              </a:solidFill>
              <a:latin typeface="Times New Roman"/>
              <a:ea typeface="Times New Roman"/>
              <a:cs typeface="Times New Roman"/>
              <a:sym typeface="Times New Roman"/>
            </a:endParaRPr>
          </a:p>
          <a:p>
            <a:pPr indent="0" lvl="0" marL="457200" rtl="0" algn="just">
              <a:spcBef>
                <a:spcPts val="400"/>
              </a:spcBef>
              <a:spcAft>
                <a:spcPts val="0"/>
              </a:spcAft>
              <a:buNone/>
            </a:pPr>
            <a:r>
              <a:rPr lang="en-US" sz="1600">
                <a:solidFill>
                  <a:schemeClr val="dk1"/>
                </a:solidFill>
                <a:latin typeface="Times New Roman"/>
                <a:ea typeface="Times New Roman"/>
                <a:cs typeface="Times New Roman"/>
                <a:sym typeface="Times New Roman"/>
              </a:rPr>
              <a:t>This project develops a Keyword Utilized Research Paper Recommender that intelligently recommends relevant research papers to users based on their input keywords.The system employs core data structures (hashing, graphs, trees) and ranking algorithms to efficiently match papers, analyze citation networks, and recommend top papers ranked by citation relevance and topic alignment.  </a:t>
            </a:r>
            <a:endParaRPr sz="16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2005372" y="250221"/>
            <a:ext cx="4979415"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OBJECTIVES</a:t>
            </a:r>
            <a:endParaRPr b="1" sz="2400">
              <a:solidFill>
                <a:srgbClr val="C00000"/>
              </a:solidFill>
              <a:latin typeface="Times New Roman"/>
              <a:ea typeface="Times New Roman"/>
              <a:cs typeface="Times New Roman"/>
              <a:sym typeface="Times New Roman"/>
            </a:endParaRPr>
          </a:p>
        </p:txBody>
      </p:sp>
      <p:sp>
        <p:nvSpPr>
          <p:cNvPr id="80" name="Google Shape;80;p16"/>
          <p:cNvSpPr txBox="1"/>
          <p:nvPr>
            <p:ph idx="1" type="body"/>
          </p:nvPr>
        </p:nvSpPr>
        <p:spPr>
          <a:xfrm>
            <a:off x="4850" y="985250"/>
            <a:ext cx="9144000" cy="40635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design and implement a recommendation system where users input keywords and receive relevant research papers using efficient data structure operations.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utilize hash maps for fast keyword-to-paper lookup and metadata management, enabling O(1) average-case retrieval of papers by keyword.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implement graph data structures (adjacency lists) to model citation networks between papers, enabling citation-based ranking and analysis.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develop ranking algorithms that prioritize papers by citation count, relevance score, and topical match with user input keywords.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provide a user-friendly interface where users enter keywords and receive top-ranked paper recommendations with citation network visualization.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 apply sorting and searching algorithms for efficient paper ranking and retrieval based on relevance metrics.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2143675" y="204119"/>
            <a:ext cx="4794900" cy="50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LITERATURE REVIEW</a:t>
            </a:r>
            <a:endParaRPr b="1" sz="2400">
              <a:solidFill>
                <a:srgbClr val="C00000"/>
              </a:solidFill>
              <a:latin typeface="Times New Roman"/>
              <a:ea typeface="Times New Roman"/>
              <a:cs typeface="Times New Roman"/>
              <a:sym typeface="Times New Roman"/>
            </a:endParaRPr>
          </a:p>
        </p:txBody>
      </p:sp>
      <p:graphicFrame>
        <p:nvGraphicFramePr>
          <p:cNvPr id="86" name="Google Shape;86;p17"/>
          <p:cNvGraphicFramePr/>
          <p:nvPr/>
        </p:nvGraphicFramePr>
        <p:xfrm>
          <a:off x="98350" y="838359"/>
          <a:ext cx="3000000" cy="3000000"/>
        </p:xfrm>
        <a:graphic>
          <a:graphicData uri="http://schemas.openxmlformats.org/drawingml/2006/table">
            <a:tbl>
              <a:tblPr>
                <a:noFill/>
                <a:tableStyleId>{74F73642-CAFB-45F4-9263-3C3A14994B2B}</a:tableStyleId>
              </a:tblPr>
              <a:tblGrid>
                <a:gridCol w="382850"/>
                <a:gridCol w="2154525"/>
                <a:gridCol w="2372825"/>
                <a:gridCol w="2188675"/>
                <a:gridCol w="1862800"/>
              </a:tblGrid>
              <a:tr h="449425">
                <a:tc>
                  <a:txBody>
                    <a:bodyPr/>
                    <a:lstStyle/>
                    <a:p>
                      <a:pPr indent="0" lvl="0" marL="0" marR="0" rtl="0" algn="l">
                        <a:lnSpc>
                          <a:spcPct val="107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Sl. No.</a:t>
                      </a:r>
                      <a:endParaRPr b="1" sz="1100" u="none" cap="none" strike="noStrike">
                        <a:solidFill>
                          <a:schemeClr val="dk1"/>
                        </a:solidFill>
                        <a:latin typeface="Times New Roman"/>
                        <a:ea typeface="Times New Roman"/>
                        <a:cs typeface="Times New Roman"/>
                        <a:sym typeface="Times New Roman"/>
                      </a:endParaRPr>
                    </a:p>
                  </a:txBody>
                  <a:tcPr marT="91425" marB="914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Journal / Research Paper Details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Key Findings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Limitations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Technology Gap Motivating Proposed Solution</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20875">
                <a:tc>
                  <a:txBody>
                    <a:bodyPr/>
                    <a:lstStyle/>
                    <a:p>
                      <a:pPr indent="0" lvl="0" marL="0" marR="0" rtl="0" algn="l">
                        <a:lnSpc>
                          <a:spcPct val="107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1.</a:t>
                      </a:r>
                      <a:endParaRPr b="1" sz="1100" u="none" cap="none" strike="noStrike">
                        <a:solidFill>
                          <a:schemeClr val="dk1"/>
                        </a:solidFill>
                        <a:latin typeface="Times New Roman"/>
                        <a:ea typeface="Times New Roman"/>
                        <a:cs typeface="Times New Roman"/>
                        <a:sym typeface="Times New Roman"/>
                      </a:endParaRPr>
                    </a:p>
                  </a:txBody>
                  <a:tcPr marT="91425" marB="91425" marR="68575" marL="68575">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Graph-based Approaches for Information Retrieval (2022)</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Highlights how graph structures such as citation networks, co-occurrence graphs, and keyword–document graphs enhance information retrieval accuracy. Demonstrates graph metrics like in-degree and centrality for ranking.</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Highly theoretical; does not provide simple or lightweight implementations suitable for small datasets.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Need for a compact citation graph model using adjacency lists and basic in-degree ranking tailored for small academic datasets (10–15 papers).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40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Times New Roman"/>
                          <a:ea typeface="Times New Roman"/>
                          <a:cs typeface="Times New Roman"/>
                          <a:sym typeface="Times New Roman"/>
                        </a:rPr>
                        <a:t>2.</a:t>
                      </a:r>
                      <a:endParaRPr b="1"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Graph-based Document Representation and Retrieval: A Comprehensive Framework (2022)</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Shows how representing documents as graph nodes with edges indicating relationships improves relevance and retrieval quality. Combines document metadata with structural graph analysis.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Framework is designed for large-scale data and requires complex processing pipelines.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chemeClr val="dk1"/>
                          </a:solidFill>
                          <a:latin typeface="Times New Roman"/>
                          <a:ea typeface="Times New Roman"/>
                          <a:cs typeface="Times New Roman"/>
                          <a:sym typeface="Times New Roman"/>
                        </a:rPr>
                        <a:t>Motivates a minimal, DSA-only graph representation where paper nodes and edges (citations) are processed using simple traversal and ranking algorithms.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2143675" y="204119"/>
            <a:ext cx="4794900" cy="45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LITERATURE REVIEW</a:t>
            </a:r>
            <a:endParaRPr b="1" sz="2400">
              <a:solidFill>
                <a:srgbClr val="C00000"/>
              </a:solidFill>
              <a:latin typeface="Times New Roman"/>
              <a:ea typeface="Times New Roman"/>
              <a:cs typeface="Times New Roman"/>
              <a:sym typeface="Times New Roman"/>
            </a:endParaRPr>
          </a:p>
        </p:txBody>
      </p:sp>
      <p:graphicFrame>
        <p:nvGraphicFramePr>
          <p:cNvPr id="92" name="Google Shape;92;p18"/>
          <p:cNvGraphicFramePr/>
          <p:nvPr/>
        </p:nvGraphicFramePr>
        <p:xfrm>
          <a:off x="236350" y="895900"/>
          <a:ext cx="3000000" cy="3000000"/>
        </p:xfrm>
        <a:graphic>
          <a:graphicData uri="http://schemas.openxmlformats.org/drawingml/2006/table">
            <a:tbl>
              <a:tblPr>
                <a:noFill/>
                <a:tableStyleId>{74F73642-CAFB-45F4-9263-3C3A14994B2B}</a:tableStyleId>
              </a:tblPr>
              <a:tblGrid>
                <a:gridCol w="452375"/>
                <a:gridCol w="2099225"/>
                <a:gridCol w="2153175"/>
                <a:gridCol w="1900000"/>
                <a:gridCol w="2206250"/>
              </a:tblGrid>
              <a:tr h="472400">
                <a:tc>
                  <a:txBody>
                    <a:bodyPr/>
                    <a:lstStyle/>
                    <a:p>
                      <a:pPr indent="0" lvl="0" marL="0" marR="0" rtl="0" algn="l">
                        <a:lnSpc>
                          <a:spcPct val="107000"/>
                        </a:lnSpc>
                        <a:spcBef>
                          <a:spcPts val="0"/>
                        </a:spcBef>
                        <a:spcAft>
                          <a:spcPts val="0"/>
                        </a:spcAft>
                        <a:buClr>
                          <a:srgbClr val="000000"/>
                        </a:buClr>
                        <a:buSzPts val="900"/>
                        <a:buFont typeface="Arial"/>
                        <a:buNone/>
                      </a:pPr>
                      <a:r>
                        <a:rPr b="1" lang="en-US" sz="1100" u="none" cap="none" strike="noStrike">
                          <a:solidFill>
                            <a:schemeClr val="dk1"/>
                          </a:solidFill>
                          <a:latin typeface="Times New Roman"/>
                          <a:ea typeface="Times New Roman"/>
                          <a:cs typeface="Times New Roman"/>
                          <a:sym typeface="Times New Roman"/>
                        </a:rPr>
                        <a:t>Sl. No.</a:t>
                      </a:r>
                      <a:endParaRPr b="1" sz="1100" u="none" cap="none" strike="noStrike">
                        <a:solidFill>
                          <a:schemeClr val="dk1"/>
                        </a:solidFill>
                        <a:latin typeface="Times New Roman"/>
                        <a:ea typeface="Times New Roman"/>
                        <a:cs typeface="Times New Roman"/>
                        <a:sym typeface="Times New Roman"/>
                      </a:endParaRPr>
                    </a:p>
                  </a:txBody>
                  <a:tcPr marT="91425" marB="9142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100" u="none" cap="none" strike="noStrike">
                          <a:solidFill>
                            <a:schemeClr val="dk1"/>
                          </a:solidFill>
                          <a:latin typeface="Times New Roman"/>
                          <a:ea typeface="Times New Roman"/>
                          <a:cs typeface="Times New Roman"/>
                          <a:sym typeface="Times New Roman"/>
                        </a:rPr>
                        <a:t>Journal / Research Paper Details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100" u="none" cap="none" strike="noStrike">
                          <a:solidFill>
                            <a:schemeClr val="dk1"/>
                          </a:solidFill>
                          <a:latin typeface="Times New Roman"/>
                          <a:ea typeface="Times New Roman"/>
                          <a:cs typeface="Times New Roman"/>
                          <a:sym typeface="Times New Roman"/>
                        </a:rPr>
                        <a:t>Key Findings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100" u="none" cap="none" strike="noStrike">
                          <a:solidFill>
                            <a:schemeClr val="dk1"/>
                          </a:solidFill>
                          <a:latin typeface="Times New Roman"/>
                          <a:ea typeface="Times New Roman"/>
                          <a:cs typeface="Times New Roman"/>
                          <a:sym typeface="Times New Roman"/>
                        </a:rPr>
                        <a:t>Limitations</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100" u="none" cap="none" strike="noStrike">
                          <a:solidFill>
                            <a:schemeClr val="dk1"/>
                          </a:solidFill>
                          <a:latin typeface="Times New Roman"/>
                          <a:ea typeface="Times New Roman"/>
                          <a:cs typeface="Times New Roman"/>
                          <a:sym typeface="Times New Roman"/>
                        </a:rPr>
                        <a:t>Technology Gap Motivating Proposed Solution</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93100">
                <a:tc>
                  <a:txBody>
                    <a:bodyPr/>
                    <a:lstStyle/>
                    <a:p>
                      <a:pPr indent="0" lvl="0" marL="0" marR="0" rtl="0" algn="l">
                        <a:lnSpc>
                          <a:spcPct val="107000"/>
                        </a:lnSpc>
                        <a:spcBef>
                          <a:spcPts val="0"/>
                        </a:spcBef>
                        <a:spcAft>
                          <a:spcPts val="0"/>
                        </a:spcAft>
                        <a:buClr>
                          <a:srgbClr val="000000"/>
                        </a:buClr>
                        <a:buSzPts val="900"/>
                        <a:buFont typeface="Arial"/>
                        <a:buNone/>
                      </a:pPr>
                      <a:r>
                        <a:rPr lang="en-US" sz="1100" u="none" cap="none" strike="noStrike">
                          <a:solidFill>
                            <a:schemeClr val="dk1"/>
                          </a:solidFill>
                          <a:latin typeface="Times New Roman"/>
                          <a:ea typeface="Times New Roman"/>
                          <a:cs typeface="Times New Roman"/>
                          <a:sym typeface="Times New Roman"/>
                        </a:rPr>
                        <a:t>3.</a:t>
                      </a:r>
                      <a:endParaRPr sz="1100" u="none" cap="none" strike="noStrike">
                        <a:solidFill>
                          <a:schemeClr val="dk1"/>
                        </a:solidFill>
                        <a:latin typeface="Times New Roman"/>
                        <a:ea typeface="Times New Roman"/>
                        <a:cs typeface="Times New Roman"/>
                        <a:sym typeface="Times New Roman"/>
                      </a:endParaRPr>
                    </a:p>
                  </a:txBody>
                  <a:tcPr marT="91425" marB="91425" marR="68575" marL="68575">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Efficient Trie-Based Techniques for Keyword Retrieval (2018)</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Demonstrates Trie-based keyword indexing for fast prefix search and auto-completion, enabling efficient keyword discovery in text datasets.</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Limited to keyword search; does not integrate document ranking or metadata-based retrieval.</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Motivates using a Trie for fast keyword suggestion while combining it with graph-based ranking and hash-based matching to form a complete retrieval solution.</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1850">
                <a:tc>
                  <a:txBody>
                    <a:bodyPr/>
                    <a:lstStyle/>
                    <a:p>
                      <a:pPr indent="0" lvl="0" marL="0" marR="0" rtl="0" algn="l">
                        <a:lnSpc>
                          <a:spcPct val="100000"/>
                        </a:lnSpc>
                        <a:spcBef>
                          <a:spcPts val="0"/>
                        </a:spcBef>
                        <a:spcAft>
                          <a:spcPts val="0"/>
                        </a:spcAft>
                        <a:buClr>
                          <a:srgbClr val="000000"/>
                        </a:buClr>
                        <a:buSzPts val="900"/>
                        <a:buFont typeface="Arial"/>
                        <a:buNone/>
                      </a:pPr>
                      <a:r>
                        <a:rPr lang="en-US" sz="1100" u="none" cap="none" strike="noStrike">
                          <a:solidFill>
                            <a:schemeClr val="dk1"/>
                          </a:solidFill>
                          <a:latin typeface="Times New Roman"/>
                          <a:ea typeface="Times New Roman"/>
                          <a:cs typeface="Times New Roman"/>
                          <a:sym typeface="Times New Roman"/>
                        </a:rPr>
                        <a:t>4.</a:t>
                      </a:r>
                      <a:endParaRPr sz="11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Hash-Based Indexing Methods for Efficient Information Retrieval (2019)</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Shows how hash-based indexing enables constant-time keyword-to-document lookup, improving retrieval speed and efficiency.</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Does not address document relevance scoring; focuses primarily on indexing performance.</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50"/>
                        <a:buFont typeface="Arial"/>
                        <a:buNone/>
                      </a:pPr>
                      <a:r>
                        <a:rPr lang="en-US" sz="1100" u="none" cap="none" strike="noStrike">
                          <a:solidFill>
                            <a:schemeClr val="dk1"/>
                          </a:solidFill>
                          <a:latin typeface="Times New Roman"/>
                          <a:ea typeface="Times New Roman"/>
                          <a:cs typeface="Times New Roman"/>
                          <a:sym typeface="Times New Roman"/>
                        </a:rPr>
                        <a:t>Motivates the use of a HashMap keyword→paper lookup table combined with ranking modules (citation graph + keyword scoring) for complete recommendation functionality.</a:t>
                      </a:r>
                      <a:endParaRPr sz="1100" u="none" cap="none" strike="noStrike">
                        <a:solidFill>
                          <a:schemeClr val="dk1"/>
                        </a:solidFill>
                        <a:latin typeface="Times New Roman"/>
                        <a:ea typeface="Times New Roman"/>
                        <a:cs typeface="Times New Roman"/>
                        <a:sym typeface="Times New Roman"/>
                      </a:endParaRPr>
                    </a:p>
                  </a:txBody>
                  <a:tcPr marT="9525" marB="9525" marR="9525" marL="95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1905478" y="211801"/>
            <a:ext cx="5048571" cy="115608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PROPOSED SYSTEM - OVERVIEW</a:t>
            </a:r>
            <a:endParaRPr b="1" sz="2400">
              <a:solidFill>
                <a:srgbClr val="C00000"/>
              </a:solidFill>
              <a:latin typeface="Times New Roman"/>
              <a:ea typeface="Times New Roman"/>
              <a:cs typeface="Times New Roman"/>
              <a:sym typeface="Times New Roman"/>
            </a:endParaRPr>
          </a:p>
        </p:txBody>
      </p:sp>
      <p:sp>
        <p:nvSpPr>
          <p:cNvPr id="98" name="Google Shape;98;p19"/>
          <p:cNvSpPr txBox="1"/>
          <p:nvPr>
            <p:ph idx="1" type="body"/>
          </p:nvPr>
        </p:nvSpPr>
        <p:spPr>
          <a:xfrm>
            <a:off x="0" y="939649"/>
            <a:ext cx="8982600" cy="3824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The proposed system aims to efficiently search and recommend relevant research papers using keywords and citation information.</a:t>
            </a:r>
            <a:endParaRPr sz="1600">
              <a:latin typeface="Times New Roman"/>
              <a:ea typeface="Times New Roman"/>
              <a:cs typeface="Times New Roman"/>
              <a:sym typeface="Times New Roman"/>
            </a:endParaRPr>
          </a:p>
          <a:p>
            <a:pPr indent="-228600" lvl="0" marL="4572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It follows a structured pipeline that processes user queries, filters papers, computes relevance, and ranks results.</a:t>
            </a:r>
            <a:endParaRPr sz="1600">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Data structures such as lists, hash maps, sets, and graphs form the backbone of the system, enabling fast lookup, indexing, and citation analysis.</a:t>
            </a:r>
            <a:endParaRPr sz="1600">
              <a:latin typeface="Times New Roman"/>
              <a:ea typeface="Times New Roman"/>
              <a:cs typeface="Times New Roman"/>
              <a:sym typeface="Times New Roman"/>
            </a:endParaRPr>
          </a:p>
          <a:p>
            <a:pPr indent="-228600" lvl="0" marL="4572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Compared to traditional keyword-only approaches, the system improves search speed, ranking quality, and scalability with lower time complexity.</a:t>
            </a:r>
            <a:endParaRPr sz="1600">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2"/>
              </a:buClr>
              <a:buSzPts val="1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1905475" y="211800"/>
            <a:ext cx="5291100" cy="115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PROPOSED SYSTEM - OVERVIEW</a:t>
            </a:r>
            <a:endParaRPr b="1" sz="2400">
              <a:solidFill>
                <a:srgbClr val="C00000"/>
              </a:solidFill>
              <a:latin typeface="Times New Roman"/>
              <a:ea typeface="Times New Roman"/>
              <a:cs typeface="Times New Roman"/>
              <a:sym typeface="Times New Roman"/>
            </a:endParaRPr>
          </a:p>
        </p:txBody>
      </p:sp>
      <p:sp>
        <p:nvSpPr>
          <p:cNvPr id="104" name="Google Shape;104;p20"/>
          <p:cNvSpPr txBox="1"/>
          <p:nvPr>
            <p:ph idx="1" type="body"/>
          </p:nvPr>
        </p:nvSpPr>
        <p:spPr>
          <a:xfrm>
            <a:off x="0" y="939649"/>
            <a:ext cx="8982600" cy="38247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p>
          <a:p>
            <a:pPr indent="0" lvl="0" marL="114300" rtl="0" algn="l">
              <a:lnSpc>
                <a:spcPct val="100000"/>
              </a:lnSpc>
              <a:spcBef>
                <a:spcPts val="0"/>
              </a:spcBef>
              <a:spcAft>
                <a:spcPts val="0"/>
              </a:spcAft>
              <a:buClr>
                <a:schemeClr val="dk2"/>
              </a:buClr>
              <a:buSzPts val="1800"/>
              <a:buNone/>
            </a:pPr>
            <a:r>
              <a:t/>
            </a:r>
            <a:endParaRPr>
              <a:solidFill>
                <a:schemeClr val="dk1"/>
              </a:solidFill>
              <a:latin typeface="Times New Roman"/>
              <a:ea typeface="Times New Roman"/>
              <a:cs typeface="Times New Roman"/>
              <a:sym typeface="Times New Roman"/>
            </a:endParaRPr>
          </a:p>
        </p:txBody>
      </p:sp>
      <p:pic>
        <p:nvPicPr>
          <p:cNvPr id="105" name="Google Shape;105;p20"/>
          <p:cNvPicPr preferRelativeResize="0"/>
          <p:nvPr/>
        </p:nvPicPr>
        <p:blipFill rotWithShape="1">
          <a:blip r:embed="rId3">
            <a:alphaModFix/>
          </a:blip>
          <a:srcRect b="2580" l="0" r="0" t="-10083"/>
          <a:stretch/>
        </p:blipFill>
        <p:spPr>
          <a:xfrm>
            <a:off x="2244263" y="211800"/>
            <a:ext cx="4655475" cy="4908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1932878" y="304800"/>
            <a:ext cx="5040352" cy="743415"/>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29629"/>
              <a:buNone/>
            </a:pPr>
            <a:r>
              <a:rPr b="1" lang="en-US" sz="2400">
                <a:solidFill>
                  <a:srgbClr val="C00000"/>
                </a:solidFill>
                <a:latin typeface="Times New Roman"/>
                <a:ea typeface="Times New Roman"/>
                <a:cs typeface="Times New Roman"/>
                <a:sym typeface="Times New Roman"/>
              </a:rPr>
              <a:t>FUNCTIONAL DESCRIPTION OF THE SYSTEM</a:t>
            </a:r>
            <a:endParaRPr b="1" sz="2400">
              <a:solidFill>
                <a:srgbClr val="C00000"/>
              </a:solidFill>
              <a:latin typeface="Times New Roman"/>
              <a:ea typeface="Times New Roman"/>
              <a:cs typeface="Times New Roman"/>
              <a:sym typeface="Times New Roman"/>
            </a:endParaRPr>
          </a:p>
        </p:txBody>
      </p:sp>
      <p:sp>
        <p:nvSpPr>
          <p:cNvPr id="111" name="Google Shape;111;p21"/>
          <p:cNvSpPr txBox="1"/>
          <p:nvPr>
            <p:ph idx="1" type="body"/>
          </p:nvPr>
        </p:nvSpPr>
        <p:spPr>
          <a:xfrm>
            <a:off x="51545" y="887289"/>
            <a:ext cx="8931090" cy="3709639"/>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Major Functionalities</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Keyword-based research paper search</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Citation count and influence analysis</a:t>
            </a:r>
            <a:endParaRPr sz="1600">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Ranking and recommendation of papers</a:t>
            </a:r>
            <a:endParaRPr b="1" sz="1600">
              <a:solidFill>
                <a:schemeClr val="dk1"/>
              </a:solidFill>
              <a:latin typeface="Times New Roman"/>
              <a:ea typeface="Times New Roman"/>
              <a:cs typeface="Times New Roman"/>
              <a:sym typeface="Times New Roman"/>
            </a:endParaRPr>
          </a:p>
          <a:p>
            <a:pPr indent="0" lvl="0" marL="114300" rtl="0" algn="l">
              <a:lnSpc>
                <a:spcPct val="150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Input → Processing → Output</a:t>
            </a:r>
            <a:endParaRPr>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Input : User-entered keywords</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Processing : Keyword filtering, citation analysis, relevance scoring, sorting</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Output : Ranked list of relevant research papers</a:t>
            </a:r>
            <a:endParaRPr sz="16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800"/>
              <a:buFont typeface="Arial"/>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1932878" y="304800"/>
            <a:ext cx="5040352" cy="743415"/>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29629"/>
              <a:buNone/>
            </a:pPr>
            <a:r>
              <a:rPr b="1" lang="en-US" sz="2400">
                <a:solidFill>
                  <a:srgbClr val="C00000"/>
                </a:solidFill>
                <a:latin typeface="Times New Roman"/>
                <a:ea typeface="Times New Roman"/>
                <a:cs typeface="Times New Roman"/>
                <a:sym typeface="Times New Roman"/>
              </a:rPr>
              <a:t>FUNCTIONAL DESCRIPTION OF THE SYSTEM</a:t>
            </a:r>
            <a:endParaRPr b="1" sz="2400">
              <a:solidFill>
                <a:srgbClr val="C00000"/>
              </a:solidFill>
              <a:latin typeface="Times New Roman"/>
              <a:ea typeface="Times New Roman"/>
              <a:cs typeface="Times New Roman"/>
              <a:sym typeface="Times New Roman"/>
            </a:endParaRPr>
          </a:p>
        </p:txBody>
      </p:sp>
      <p:sp>
        <p:nvSpPr>
          <p:cNvPr id="117" name="Google Shape;117;p22"/>
          <p:cNvSpPr txBox="1"/>
          <p:nvPr>
            <p:ph idx="1" type="body"/>
          </p:nvPr>
        </p:nvSpPr>
        <p:spPr>
          <a:xfrm>
            <a:off x="0" y="913745"/>
            <a:ext cx="8982635" cy="3911593"/>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User Roles</a:t>
            </a:r>
            <a:endParaRPr>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Beginner: Simple keyword search</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Researcher: Citation-aware ranked results</a:t>
            </a:r>
            <a:endParaRPr sz="1600">
              <a:latin typeface="Times New Roman"/>
              <a:ea typeface="Times New Roman"/>
              <a:cs typeface="Times New Roman"/>
              <a:sym typeface="Times New Roman"/>
            </a:endParaRPr>
          </a:p>
          <a:p>
            <a:pPr indent="0" lvl="0" marL="114300" rtl="0" algn="l">
              <a:lnSpc>
                <a:spcPct val="150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Core Data Operations</a:t>
            </a:r>
            <a:endParaRPr>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Insert and store paper metadata</a:t>
            </a:r>
            <a:endParaRPr sz="1600">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Hash-based lookup by paper ID</a:t>
            </a:r>
            <a:endParaRPr sz="1600">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Graph traversal for citation counting</a:t>
            </a:r>
            <a:endParaRPr sz="1600">
              <a:solidFill>
                <a:schemeClr val="dk1"/>
              </a:solidFill>
              <a:latin typeface="Times New Roman"/>
              <a:ea typeface="Times New Roman"/>
              <a:cs typeface="Times New Roman"/>
              <a:sym typeface="Times New Roman"/>
            </a:endParaRPr>
          </a:p>
          <a:p>
            <a:pPr indent="-330200" lvl="0" marL="457200" rtl="0" algn="l">
              <a:lnSpc>
                <a:spcPct val="150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Sorting based on relevance score</a:t>
            </a:r>
            <a:endParaRPr sz="1600">
              <a:latin typeface="Times New Roman"/>
              <a:ea typeface="Times New Roman"/>
              <a:cs typeface="Times New Roman"/>
              <a:sym typeface="Times New Roman"/>
            </a:endParaRPr>
          </a:p>
          <a:p>
            <a:pPr indent="0" lvl="0" marL="114300" rtl="0" algn="l">
              <a:lnSpc>
                <a:spcPct val="150000"/>
              </a:lnSpc>
              <a:spcBef>
                <a:spcPts val="0"/>
              </a:spcBef>
              <a:spcAft>
                <a:spcPts val="0"/>
              </a:spcAft>
              <a:buClr>
                <a:schemeClr val="dk2"/>
              </a:buClr>
              <a:buSzPts val="1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nvSpPr>
        <p:spPr>
          <a:xfrm>
            <a:off x="1836237" y="200725"/>
            <a:ext cx="533030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SYSTEM ARCHITECTURE</a:t>
            </a:r>
            <a:endParaRPr b="1" i="0" sz="3200" u="none" cap="none" strike="noStrike">
              <a:solidFill>
                <a:srgbClr val="C00000"/>
              </a:solidFill>
              <a:latin typeface="Times New Roman"/>
              <a:ea typeface="Times New Roman"/>
              <a:cs typeface="Times New Roman"/>
              <a:sym typeface="Times New Roman"/>
            </a:endParaRPr>
          </a:p>
        </p:txBody>
      </p:sp>
      <p:pic>
        <p:nvPicPr>
          <p:cNvPr id="123" name="Google Shape;123;p23"/>
          <p:cNvPicPr preferRelativeResize="0"/>
          <p:nvPr/>
        </p:nvPicPr>
        <p:blipFill rotWithShape="1">
          <a:blip r:embed="rId3">
            <a:alphaModFix/>
          </a:blip>
          <a:srcRect b="7561" l="0" r="0" t="0"/>
          <a:stretch/>
        </p:blipFill>
        <p:spPr>
          <a:xfrm>
            <a:off x="1977450" y="785500"/>
            <a:ext cx="4812888" cy="4358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nvSpPr>
        <p:spPr>
          <a:xfrm>
            <a:off x="2780484" y="279747"/>
            <a:ext cx="358303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29" name="Google Shape;129;p24"/>
          <p:cNvSpPr txBox="1"/>
          <p:nvPr/>
        </p:nvSpPr>
        <p:spPr>
          <a:xfrm>
            <a:off x="0" y="880453"/>
            <a:ext cx="8929500" cy="39096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Load papers into memory</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Build search index (for fast lookup)</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Build citation graph (for influence)</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User enters a query</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Relevant papers are retrieved</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Papers are ranked</a:t>
            </a:r>
            <a:endParaRPr>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rgbClr val="000000"/>
              </a:buClr>
              <a:buSzPts val="1800"/>
              <a:buFont typeface="Arial"/>
              <a:buNone/>
            </a:pPr>
            <a:r>
              <a:t/>
            </a:r>
            <a:endParaRPr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800"/>
              <a:buFont typeface="Times New Roman"/>
              <a:buAutoNum type="arabicPeriod"/>
            </a:pPr>
            <a:r>
              <a:rPr i="0" lang="en-US" sz="1800" u="none" cap="none" strike="noStrike">
                <a:solidFill>
                  <a:srgbClr val="000000"/>
                </a:solidFill>
                <a:latin typeface="Times New Roman"/>
                <a:ea typeface="Times New Roman"/>
                <a:cs typeface="Times New Roman"/>
                <a:sym typeface="Times New Roman"/>
              </a:rPr>
              <a:t>Top papers are recommended</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nvSpPr>
        <p:spPr>
          <a:xfrm>
            <a:off x="2780484" y="279747"/>
            <a:ext cx="358303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35" name="Google Shape;135;p25"/>
          <p:cNvSpPr txBox="1"/>
          <p:nvPr/>
        </p:nvSpPr>
        <p:spPr>
          <a:xfrm>
            <a:off x="112900" y="835125"/>
            <a:ext cx="4109100" cy="3848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355600" lvl="0" marL="457200" marR="0" rtl="0" algn="l">
              <a:lnSpc>
                <a:spcPct val="150000"/>
              </a:lnSpc>
              <a:spcBef>
                <a:spcPts val="0"/>
              </a:spcBef>
              <a:spcAft>
                <a:spcPts val="0"/>
              </a:spcAft>
              <a:buClr>
                <a:srgbClr val="000000"/>
              </a:buClr>
              <a:buSzPts val="2000"/>
              <a:buFont typeface="Times New Roman"/>
              <a:buAutoNum type="arabicPeriod"/>
            </a:pPr>
            <a:r>
              <a:rPr b="1" i="0" lang="en-US" sz="2000" cap="none" strike="noStrike">
                <a:solidFill>
                  <a:srgbClr val="000000"/>
                </a:solidFill>
                <a:latin typeface="Times New Roman"/>
                <a:ea typeface="Times New Roman"/>
                <a:cs typeface="Times New Roman"/>
                <a:sym typeface="Times New Roman"/>
              </a:rPr>
              <a:t>Data Loading and Storage</a:t>
            </a:r>
            <a:endParaRPr>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How data is stored</a:t>
            </a:r>
            <a:endParaRPr i="0" u="none" cap="none" strike="noStrike">
              <a:solidFill>
                <a:srgbClr val="000000"/>
              </a:solidFill>
              <a:latin typeface="Times New Roman"/>
              <a:ea typeface="Times New Roman"/>
              <a:cs typeface="Times New Roman"/>
              <a:sym typeface="Times New Roman"/>
            </a:endParaRPr>
          </a:p>
          <a:p>
            <a:pPr indent="-298450" lvl="0" marL="285750" marR="0" rtl="0" algn="l">
              <a:lnSpc>
                <a:spcPct val="150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All papers are loaded once at startup.</a:t>
            </a:r>
            <a:endParaRPr i="0" sz="1600" u="none" cap="none" strike="noStrike">
              <a:solidFill>
                <a:srgbClr val="000000"/>
              </a:solidFill>
              <a:latin typeface="Times New Roman"/>
              <a:ea typeface="Times New Roman"/>
              <a:cs typeface="Times New Roman"/>
              <a:sym typeface="Times New Roman"/>
            </a:endParaRPr>
          </a:p>
          <a:p>
            <a:pPr indent="-298450" lvl="0" marL="285750" marR="0" rtl="0" algn="l">
              <a:lnSpc>
                <a:spcPct val="150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Data is kept in memory for fast access.</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Data Structures used</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List → stores all papers</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Dictionary (Hash Map) → maps paper_id → paper details</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1600">
              <a:latin typeface="Times New Roman"/>
              <a:ea typeface="Times New Roman"/>
              <a:cs typeface="Times New Roman"/>
              <a:sym typeface="Times New Roman"/>
            </a:endParaRPr>
          </a:p>
        </p:txBody>
      </p:sp>
      <p:sp>
        <p:nvSpPr>
          <p:cNvPr id="136" name="Google Shape;136;p25"/>
          <p:cNvSpPr txBox="1"/>
          <p:nvPr/>
        </p:nvSpPr>
        <p:spPr>
          <a:xfrm>
            <a:off x="4324494" y="841990"/>
            <a:ext cx="4706700" cy="38019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latin typeface="Times New Roman"/>
                <a:ea typeface="Times New Roman"/>
                <a:cs typeface="Times New Roman"/>
                <a:sym typeface="Times New Roman"/>
              </a:rPr>
              <a:t>2. </a:t>
            </a:r>
            <a:r>
              <a:rPr b="1" i="0" lang="en-US" sz="2000" cap="none" strike="noStrike">
                <a:solidFill>
                  <a:srgbClr val="000000"/>
                </a:solidFill>
                <a:latin typeface="Times New Roman"/>
                <a:ea typeface="Times New Roman"/>
                <a:cs typeface="Times New Roman"/>
                <a:sym typeface="Times New Roman"/>
              </a:rPr>
              <a:t>Building Search Index</a:t>
            </a:r>
            <a:endParaRPr>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Searching all paper line by line is time consuming therefore we use Inverted Index.</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How Index Is Built?</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1. Extract words from:</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             -Title</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             -Keyword</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             -Abstract</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2. Normalize Text</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3. Store Paper I</a:t>
            </a:r>
            <a:r>
              <a:rPr lang="en-US" sz="1600">
                <a:latin typeface="Times New Roman"/>
                <a:ea typeface="Times New Roman"/>
                <a:cs typeface="Times New Roman"/>
                <a:sym typeface="Times New Roman"/>
              </a:rPr>
              <a:t>Ds</a:t>
            </a:r>
            <a:r>
              <a:rPr i="0" lang="en-US" sz="1600" u="none" cap="none" strike="noStrike">
                <a:solidFill>
                  <a:srgbClr val="000000"/>
                </a:solidFill>
                <a:latin typeface="Times New Roman"/>
                <a:ea typeface="Times New Roman"/>
                <a:cs typeface="Times New Roman"/>
                <a:sym typeface="Times New Roman"/>
              </a:rPr>
              <a:t> under each word</a:t>
            </a:r>
            <a:endParaRPr sz="16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nvSpPr>
        <p:spPr>
          <a:xfrm>
            <a:off x="2780484" y="279747"/>
            <a:ext cx="358303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42" name="Google Shape;142;p26"/>
          <p:cNvSpPr txBox="1"/>
          <p:nvPr/>
        </p:nvSpPr>
        <p:spPr>
          <a:xfrm>
            <a:off x="232403" y="864522"/>
            <a:ext cx="4165500" cy="179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800">
                <a:latin typeface="Bookman Old Style"/>
                <a:ea typeface="Bookman Old Style"/>
                <a:cs typeface="Bookman Old Style"/>
                <a:sym typeface="Bookman Old Style"/>
              </a:rPr>
              <a:t>3. </a:t>
            </a:r>
            <a:r>
              <a:rPr b="1" i="0" lang="en-US" sz="1800" cap="none" strike="noStrike">
                <a:solidFill>
                  <a:srgbClr val="000000"/>
                </a:solidFill>
                <a:latin typeface="Times New Roman"/>
                <a:ea typeface="Times New Roman"/>
                <a:cs typeface="Times New Roman"/>
                <a:sym typeface="Times New Roman"/>
              </a:rPr>
              <a:t>Candidate Paper Retrieval</a:t>
            </a:r>
            <a:endParaRPr>
              <a:latin typeface="Times New Roman"/>
              <a:ea typeface="Times New Roman"/>
              <a:cs typeface="Times New Roman"/>
              <a:sym typeface="Times New Roman"/>
            </a:endParaRPr>
          </a:p>
          <a:p>
            <a:pPr indent="-342900" lvl="0" marL="3429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Query is tokenized into words</a:t>
            </a:r>
            <a:endParaRPr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Each word is looked up in the inverted index</a:t>
            </a:r>
            <a:endParaRPr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All matching paper IDs are collected</a:t>
            </a:r>
            <a:endParaRPr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Only relevant papers move to ranking stage</a:t>
            </a:r>
            <a:endParaRPr>
              <a:latin typeface="Times New Roman"/>
              <a:ea typeface="Times New Roman"/>
              <a:cs typeface="Times New Roman"/>
              <a:sym typeface="Times New Roman"/>
            </a:endParaRPr>
          </a:p>
        </p:txBody>
      </p:sp>
      <p:sp>
        <p:nvSpPr>
          <p:cNvPr id="143" name="Google Shape;143;p26"/>
          <p:cNvSpPr txBox="1"/>
          <p:nvPr/>
        </p:nvSpPr>
        <p:spPr>
          <a:xfrm>
            <a:off x="232403" y="3036270"/>
            <a:ext cx="4165500" cy="15069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800">
                <a:latin typeface="Times New Roman"/>
                <a:ea typeface="Times New Roman"/>
                <a:cs typeface="Times New Roman"/>
                <a:sym typeface="Times New Roman"/>
              </a:rPr>
              <a:t>4. </a:t>
            </a:r>
            <a:r>
              <a:rPr b="1" i="0" lang="en-US" sz="1800" cap="none" strike="noStrike">
                <a:solidFill>
                  <a:srgbClr val="000000"/>
                </a:solidFill>
                <a:latin typeface="Times New Roman"/>
                <a:ea typeface="Times New Roman"/>
                <a:cs typeface="Times New Roman"/>
                <a:sym typeface="Times New Roman"/>
              </a:rPr>
              <a:t>Citation Graph Construction</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Node</a:t>
            </a:r>
            <a:r>
              <a:rPr i="0" lang="en-US" sz="1600" u="none" cap="none" strike="noStrike">
                <a:solidFill>
                  <a:srgbClr val="000000"/>
                </a:solidFill>
                <a:latin typeface="Times New Roman"/>
                <a:ea typeface="Times New Roman"/>
                <a:cs typeface="Times New Roman"/>
                <a:sym typeface="Times New Roman"/>
              </a:rPr>
              <a:t> : Paper</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Edges</a:t>
            </a:r>
            <a:r>
              <a:rPr i="0" lang="en-US" sz="1600" u="none" cap="none" strike="noStrike">
                <a:solidFill>
                  <a:srgbClr val="000000"/>
                </a:solidFill>
                <a:latin typeface="Times New Roman"/>
                <a:ea typeface="Times New Roman"/>
                <a:cs typeface="Times New Roman"/>
                <a:sym typeface="Times New Roman"/>
              </a:rPr>
              <a:t> : Citation</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Adjacency</a:t>
            </a:r>
            <a:r>
              <a:rPr i="0" lang="en-US" sz="1600" u="none" cap="none" strike="noStrike">
                <a:solidFill>
                  <a:srgbClr val="000000"/>
                </a:solidFill>
                <a:latin typeface="Times New Roman"/>
                <a:ea typeface="Times New Roman"/>
                <a:cs typeface="Times New Roman"/>
                <a:sym typeface="Times New Roman"/>
              </a:rPr>
              <a:t> </a:t>
            </a:r>
            <a:r>
              <a:rPr b="1" i="0" lang="en-US" sz="1600" u="none" cap="none" strike="noStrike">
                <a:solidFill>
                  <a:srgbClr val="000000"/>
                </a:solidFill>
                <a:latin typeface="Times New Roman"/>
                <a:ea typeface="Times New Roman"/>
                <a:cs typeface="Times New Roman"/>
                <a:sym typeface="Times New Roman"/>
              </a:rPr>
              <a:t>List</a:t>
            </a:r>
            <a:r>
              <a:rPr i="0" lang="en-US" sz="1600" u="none" cap="none" strike="noStrike">
                <a:solidFill>
                  <a:srgbClr val="000000"/>
                </a:solidFill>
                <a:latin typeface="Times New Roman"/>
                <a:ea typeface="Times New Roman"/>
                <a:cs typeface="Times New Roman"/>
                <a:sym typeface="Times New Roman"/>
              </a:rPr>
              <a:t> : Outgoing Citations</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Reverse</a:t>
            </a:r>
            <a:r>
              <a:rPr i="0" lang="en-US" sz="1600" u="none" cap="none" strike="noStrike">
                <a:solidFill>
                  <a:srgbClr val="000000"/>
                </a:solidFill>
                <a:latin typeface="Times New Roman"/>
                <a:ea typeface="Times New Roman"/>
                <a:cs typeface="Times New Roman"/>
                <a:sym typeface="Times New Roman"/>
              </a:rPr>
              <a:t> </a:t>
            </a:r>
            <a:r>
              <a:rPr b="1" i="0" lang="en-US" sz="1600" u="none" cap="none" strike="noStrike">
                <a:solidFill>
                  <a:srgbClr val="000000"/>
                </a:solidFill>
                <a:latin typeface="Times New Roman"/>
                <a:ea typeface="Times New Roman"/>
                <a:cs typeface="Times New Roman"/>
                <a:sym typeface="Times New Roman"/>
              </a:rPr>
              <a:t>Adjacency</a:t>
            </a:r>
            <a:r>
              <a:rPr i="0" lang="en-US" sz="1600" u="none" cap="none" strike="noStrike">
                <a:solidFill>
                  <a:srgbClr val="000000"/>
                </a:solidFill>
                <a:latin typeface="Times New Roman"/>
                <a:ea typeface="Times New Roman"/>
                <a:cs typeface="Times New Roman"/>
                <a:sym typeface="Times New Roman"/>
              </a:rPr>
              <a:t> </a:t>
            </a:r>
            <a:r>
              <a:rPr b="1" i="0" lang="en-US" sz="1600" u="none" cap="none" strike="noStrike">
                <a:solidFill>
                  <a:srgbClr val="000000"/>
                </a:solidFill>
                <a:latin typeface="Times New Roman"/>
                <a:ea typeface="Times New Roman"/>
                <a:cs typeface="Times New Roman"/>
                <a:sym typeface="Times New Roman"/>
              </a:rPr>
              <a:t>List</a:t>
            </a:r>
            <a:r>
              <a:rPr i="0" lang="en-US" sz="1600" u="none" cap="none" strike="noStrike">
                <a:solidFill>
                  <a:srgbClr val="000000"/>
                </a:solidFill>
                <a:latin typeface="Times New Roman"/>
                <a:ea typeface="Times New Roman"/>
                <a:cs typeface="Times New Roman"/>
                <a:sym typeface="Times New Roman"/>
              </a:rPr>
              <a:t> : Incoming Citations</a:t>
            </a:r>
            <a:endParaRPr i="0" sz="2000" u="none" cap="none" strike="noStrike">
              <a:solidFill>
                <a:srgbClr val="000000"/>
              </a:solidFill>
              <a:latin typeface="Times New Roman"/>
              <a:ea typeface="Times New Roman"/>
              <a:cs typeface="Times New Roman"/>
              <a:sym typeface="Times New Roman"/>
            </a:endParaRPr>
          </a:p>
        </p:txBody>
      </p:sp>
      <p:sp>
        <p:nvSpPr>
          <p:cNvPr id="144" name="Google Shape;144;p26"/>
          <p:cNvSpPr txBox="1"/>
          <p:nvPr/>
        </p:nvSpPr>
        <p:spPr>
          <a:xfrm>
            <a:off x="5231100" y="1103975"/>
            <a:ext cx="3042000" cy="3241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800">
                <a:latin typeface="Times New Roman"/>
                <a:ea typeface="Times New Roman"/>
                <a:cs typeface="Times New Roman"/>
                <a:sym typeface="Times New Roman"/>
              </a:rPr>
              <a:t>5. </a:t>
            </a:r>
            <a:r>
              <a:rPr b="1" i="0" lang="en-US" sz="1800" cap="none" strike="noStrike">
                <a:solidFill>
                  <a:srgbClr val="000000"/>
                </a:solidFill>
                <a:latin typeface="Times New Roman"/>
                <a:ea typeface="Times New Roman"/>
                <a:cs typeface="Times New Roman"/>
                <a:sym typeface="Times New Roman"/>
              </a:rPr>
              <a:t>Citation Count(Popularity Measure)</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Citation</a:t>
            </a:r>
            <a:r>
              <a:rPr i="0" lang="en-US" sz="1600" u="none" cap="none" strike="noStrike">
                <a:solidFill>
                  <a:srgbClr val="000000"/>
                </a:solidFill>
                <a:latin typeface="Times New Roman"/>
                <a:ea typeface="Times New Roman"/>
                <a:cs typeface="Times New Roman"/>
                <a:sym typeface="Times New Roman"/>
              </a:rPr>
              <a:t> : Number of papers that </a:t>
            </a:r>
            <a:r>
              <a:rPr lang="en-US" sz="1600">
                <a:latin typeface="Times New Roman"/>
                <a:ea typeface="Times New Roman"/>
                <a:cs typeface="Times New Roman"/>
                <a:sym typeface="Times New Roman"/>
              </a:rPr>
              <a:t>cite</a:t>
            </a:r>
            <a:r>
              <a:rPr i="0" lang="en-US" sz="1600" u="none" cap="none" strike="noStrike">
                <a:solidFill>
                  <a:srgbClr val="000000"/>
                </a:solidFill>
                <a:latin typeface="Times New Roman"/>
                <a:ea typeface="Times New Roman"/>
                <a:cs typeface="Times New Roman"/>
                <a:sym typeface="Times New Roman"/>
              </a:rPr>
              <a:t> a given paper</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Citation count is calculated using the formula :</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citation_count = number of incoming edges</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Citation count measures the Popularity and it is used as minor ranking signal</a:t>
            </a:r>
            <a:r>
              <a:rPr lang="en-US" sz="16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nvSpPr>
        <p:spPr>
          <a:xfrm>
            <a:off x="2780484" y="279747"/>
            <a:ext cx="358303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50" name="Google Shape;150;p27"/>
          <p:cNvSpPr txBox="1"/>
          <p:nvPr/>
        </p:nvSpPr>
        <p:spPr>
          <a:xfrm>
            <a:off x="191900" y="992250"/>
            <a:ext cx="4012500" cy="37248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800">
                <a:latin typeface="Times New Roman"/>
                <a:ea typeface="Times New Roman"/>
                <a:cs typeface="Times New Roman"/>
                <a:sym typeface="Times New Roman"/>
              </a:rPr>
              <a:t>6. </a:t>
            </a:r>
            <a:r>
              <a:rPr b="1" i="0" lang="en-US" sz="1800" u="none" cap="none" strike="noStrike">
                <a:solidFill>
                  <a:srgbClr val="000000"/>
                </a:solidFill>
                <a:latin typeface="Times New Roman"/>
                <a:ea typeface="Times New Roman"/>
                <a:cs typeface="Times New Roman"/>
                <a:sym typeface="Times New Roman"/>
              </a:rPr>
              <a:t>PageRank Calculation (Influence Measure)</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Core Idea : </a:t>
            </a:r>
            <a:r>
              <a:rPr i="0" lang="en-US" sz="1600" u="none" cap="none" strike="noStrike">
                <a:solidFill>
                  <a:srgbClr val="000000"/>
                </a:solidFill>
                <a:latin typeface="Times New Roman"/>
                <a:ea typeface="Times New Roman"/>
                <a:cs typeface="Times New Roman"/>
                <a:sym typeface="Times New Roman"/>
              </a:rPr>
              <a:t>A paper is important if important papers cite it.</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PageRank Calculation </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Each paper starts with equal score.</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Then repeatedly:</a:t>
            </a:r>
            <a:endParaRPr sz="1600">
              <a:latin typeface="Times New Roman"/>
              <a:ea typeface="Times New Roman"/>
              <a:cs typeface="Times New Roman"/>
              <a:sym typeface="Times New Roman"/>
            </a:endParaRPr>
          </a:p>
          <a:p>
            <a:pPr indent="-330200" lvl="0" marL="4572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A paper distributes its score to papers it cites</a:t>
            </a:r>
            <a:endParaRPr i="0" sz="1600" u="none" cap="none" strike="noStrike">
              <a:solidFill>
                <a:srgbClr val="000000"/>
              </a:solidFill>
              <a:latin typeface="Times New Roman"/>
              <a:ea typeface="Times New Roman"/>
              <a:cs typeface="Times New Roman"/>
              <a:sym typeface="Times New Roman"/>
            </a:endParaRPr>
          </a:p>
          <a:p>
            <a:pPr indent="-330200" lvl="0" marL="4572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Papers cited by important papers gain more score</a:t>
            </a:r>
            <a:endParaRPr i="0" sz="1600" u="none" cap="none" strike="noStrike">
              <a:solidFill>
                <a:srgbClr val="000000"/>
              </a:solidFill>
              <a:latin typeface="Times New Roman"/>
              <a:ea typeface="Times New Roman"/>
              <a:cs typeface="Times New Roman"/>
              <a:sym typeface="Times New Roman"/>
            </a:endParaRPr>
          </a:p>
          <a:p>
            <a:pPr indent="-330200" lvl="0" marL="457200" marR="0" rtl="0" algn="l">
              <a:lnSpc>
                <a:spcPct val="115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This process repeats for multiple iterations</a:t>
            </a:r>
            <a:endParaRPr sz="1600">
              <a:latin typeface="Times New Roman"/>
              <a:ea typeface="Times New Roman"/>
              <a:cs typeface="Times New Roman"/>
              <a:sym typeface="Times New Roman"/>
            </a:endParaRPr>
          </a:p>
        </p:txBody>
      </p:sp>
      <p:sp>
        <p:nvSpPr>
          <p:cNvPr id="151" name="Google Shape;151;p27"/>
          <p:cNvSpPr txBox="1"/>
          <p:nvPr/>
        </p:nvSpPr>
        <p:spPr>
          <a:xfrm>
            <a:off x="4571999" y="992250"/>
            <a:ext cx="4380300" cy="38019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800">
                <a:latin typeface="Times New Roman"/>
                <a:ea typeface="Times New Roman"/>
                <a:cs typeface="Times New Roman"/>
                <a:sym typeface="Times New Roman"/>
              </a:rPr>
              <a:t>7. </a:t>
            </a:r>
            <a:r>
              <a:rPr b="1" i="0" lang="en-US" sz="1800" u="none" cap="none" strike="noStrike">
                <a:solidFill>
                  <a:srgbClr val="000000"/>
                </a:solidFill>
                <a:latin typeface="Times New Roman"/>
                <a:ea typeface="Times New Roman"/>
                <a:cs typeface="Times New Roman"/>
                <a:sym typeface="Times New Roman"/>
              </a:rPr>
              <a:t>PageRank Formula</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New Score =</a:t>
            </a:r>
            <a:endParaRPr sz="1600">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  base score </a:t>
            </a:r>
            <a:r>
              <a:rPr b="1" lang="en-US" sz="1600">
                <a:latin typeface="Times New Roman"/>
                <a:ea typeface="Times New Roman"/>
                <a:cs typeface="Times New Roman"/>
                <a:sym typeface="Times New Roman"/>
              </a:rPr>
              <a:t>+ </a:t>
            </a:r>
            <a:r>
              <a:rPr b="1" i="0" lang="en-US" sz="1600" u="none" cap="none" strike="noStrike">
                <a:solidFill>
                  <a:srgbClr val="000000"/>
                </a:solidFill>
                <a:latin typeface="Times New Roman"/>
                <a:ea typeface="Times New Roman"/>
                <a:cs typeface="Times New Roman"/>
                <a:sym typeface="Times New Roman"/>
              </a:rPr>
              <a:t>sum of (incoming paper score/ its outgoing citations)</a:t>
            </a:r>
            <a:endParaRPr b="1" i="0" sz="1600" u="none" cap="none" strike="noStrike">
              <a:solidFill>
                <a:srgbClr val="000000"/>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Each paper gets a normalized influence score (0–1)</a:t>
            </a:r>
            <a:endParaRPr i="0" sz="1600" u="none" cap="none" strike="noStrike">
              <a:solidFill>
                <a:srgbClr val="000000"/>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Higher score → more influential paper</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nvSpPr>
        <p:spPr>
          <a:xfrm>
            <a:off x="2780484" y="279747"/>
            <a:ext cx="358303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57" name="Google Shape;157;p28"/>
          <p:cNvSpPr txBox="1"/>
          <p:nvPr/>
        </p:nvSpPr>
        <p:spPr>
          <a:xfrm>
            <a:off x="248400" y="1290375"/>
            <a:ext cx="4323600" cy="3206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1800">
                <a:latin typeface="Times New Roman"/>
                <a:ea typeface="Times New Roman"/>
                <a:cs typeface="Times New Roman"/>
                <a:sym typeface="Times New Roman"/>
              </a:rPr>
              <a:t>8. </a:t>
            </a:r>
            <a:r>
              <a:rPr b="1" i="0" lang="en-US" sz="1800" u="none" cap="none" strike="noStrike">
                <a:solidFill>
                  <a:srgbClr val="000000"/>
                </a:solidFill>
                <a:latin typeface="Times New Roman"/>
                <a:ea typeface="Times New Roman"/>
                <a:cs typeface="Times New Roman"/>
                <a:sym typeface="Times New Roman"/>
              </a:rPr>
              <a:t>TF-IDF Relevance Scoring</a:t>
            </a:r>
            <a:endParaRPr>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Purpose : </a:t>
            </a:r>
            <a:r>
              <a:rPr i="0" lang="en-US" sz="1600" u="none" cap="none" strike="noStrike">
                <a:solidFill>
                  <a:srgbClr val="000000"/>
                </a:solidFill>
                <a:latin typeface="Times New Roman"/>
                <a:ea typeface="Times New Roman"/>
                <a:cs typeface="Times New Roman"/>
                <a:sym typeface="Times New Roman"/>
              </a:rPr>
              <a:t>Measure how relevant a paper is to the query.</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TF (Term Frequency)</a:t>
            </a:r>
            <a:endParaRPr sz="1600">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Checks where the query word appears:</a:t>
            </a:r>
            <a:endParaRPr i="0" sz="1600" u="none" cap="none" strike="noStrike">
              <a:solidFill>
                <a:srgbClr val="000000"/>
              </a:solidFill>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Title → high weight</a:t>
            </a:r>
            <a:endParaRPr sz="1600">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Keywords → medium weight</a:t>
            </a:r>
            <a:endParaRPr sz="1600">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Abstract → lower weight</a:t>
            </a:r>
            <a:endParaRPr sz="1600">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IDF (Inverse Document Frequency)</a:t>
            </a:r>
            <a:endParaRPr sz="1600">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Rare words get more importance</a:t>
            </a:r>
            <a:endParaRPr i="0" sz="1600" u="none" cap="none" strike="noStrike">
              <a:solidFill>
                <a:srgbClr val="000000"/>
              </a:solidFill>
              <a:latin typeface="Times New Roman"/>
              <a:ea typeface="Times New Roman"/>
              <a:cs typeface="Times New Roman"/>
              <a:sym typeface="Times New Roman"/>
            </a:endParaRPr>
          </a:p>
          <a:p>
            <a:pPr indent="-298450" lvl="0" marL="285750" marR="0" rtl="0" algn="l">
              <a:lnSpc>
                <a:spcPct val="115000"/>
              </a:lnSpc>
              <a:spcBef>
                <a:spcPts val="0"/>
              </a:spcBef>
              <a:spcAft>
                <a:spcPts val="0"/>
              </a:spcAft>
              <a:buClr>
                <a:srgbClr val="000000"/>
              </a:buClr>
              <a:buSzPts val="1600"/>
              <a:buFont typeface="Times New Roman"/>
              <a:buChar char="•"/>
            </a:pPr>
            <a:r>
              <a:rPr i="0" lang="en-US" sz="1600" u="none" cap="none" strike="noStrike">
                <a:solidFill>
                  <a:srgbClr val="000000"/>
                </a:solidFill>
                <a:latin typeface="Times New Roman"/>
                <a:ea typeface="Times New Roman"/>
                <a:cs typeface="Times New Roman"/>
                <a:sym typeface="Times New Roman"/>
              </a:rPr>
              <a:t>Common words get less importance</a:t>
            </a:r>
            <a:endParaRPr i="0" sz="1400" u="none" cap="none" strike="noStrike">
              <a:solidFill>
                <a:srgbClr val="000000"/>
              </a:solidFill>
              <a:latin typeface="Times New Roman"/>
              <a:ea typeface="Times New Roman"/>
              <a:cs typeface="Times New Roman"/>
              <a:sym typeface="Times New Roman"/>
            </a:endParaRPr>
          </a:p>
        </p:txBody>
      </p:sp>
      <p:sp>
        <p:nvSpPr>
          <p:cNvPr id="158" name="Google Shape;158;p28"/>
          <p:cNvSpPr txBox="1"/>
          <p:nvPr/>
        </p:nvSpPr>
        <p:spPr>
          <a:xfrm>
            <a:off x="4788150" y="1290375"/>
            <a:ext cx="4254600" cy="13236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800">
                <a:latin typeface="Times New Roman"/>
                <a:ea typeface="Times New Roman"/>
                <a:cs typeface="Times New Roman"/>
                <a:sym typeface="Times New Roman"/>
              </a:rPr>
              <a:t>9. </a:t>
            </a:r>
            <a:r>
              <a:rPr b="1" i="0" lang="en-US" sz="1800" u="none" cap="none" strike="noStrike">
                <a:solidFill>
                  <a:srgbClr val="000000"/>
                </a:solidFill>
                <a:latin typeface="Times New Roman"/>
                <a:ea typeface="Times New Roman"/>
                <a:cs typeface="Times New Roman"/>
                <a:sym typeface="Times New Roman"/>
              </a:rPr>
              <a:t>Final Score Calculation </a:t>
            </a:r>
            <a:endParaRPr>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US" sz="1600" u="none" cap="none" strike="noStrike">
                <a:solidFill>
                  <a:srgbClr val="000000"/>
                </a:solidFill>
                <a:latin typeface="Times New Roman"/>
                <a:ea typeface="Times New Roman"/>
                <a:cs typeface="Times New Roman"/>
                <a:sym typeface="Times New Roman"/>
              </a:rPr>
              <a:t>Final Score = TF-IDF Score</a:t>
            </a:r>
            <a:r>
              <a:rPr lang="en-US">
                <a:latin typeface="Times New Roman"/>
                <a:ea typeface="Times New Roman"/>
                <a:cs typeface="Times New Roman"/>
                <a:sym typeface="Times New Roman"/>
              </a:rPr>
              <a:t> </a:t>
            </a:r>
            <a:r>
              <a:rPr i="0" lang="en-US" sz="1600" u="none" cap="none" strike="noStrike">
                <a:solidFill>
                  <a:srgbClr val="000000"/>
                </a:solidFill>
                <a:latin typeface="Times New Roman"/>
                <a:ea typeface="Times New Roman"/>
                <a:cs typeface="Times New Roman"/>
                <a:sym typeface="Times New Roman"/>
              </a:rPr>
              <a:t>+ PageRank Score +  </a:t>
            </a:r>
            <a:r>
              <a:rPr lang="en-US" sz="1600">
                <a:latin typeface="Times New Roman"/>
                <a:ea typeface="Times New Roman"/>
                <a:cs typeface="Times New Roman"/>
                <a:sym typeface="Times New Roman"/>
              </a:rPr>
              <a:t>log(Citation Count)</a:t>
            </a:r>
            <a:endParaRPr sz="16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600">
              <a:latin typeface="Times New Roman"/>
              <a:ea typeface="Times New Roman"/>
              <a:cs typeface="Times New Roman"/>
              <a:sym typeface="Times New Roman"/>
            </a:endParaRPr>
          </a:p>
        </p:txBody>
      </p:sp>
      <p:sp>
        <p:nvSpPr>
          <p:cNvPr id="159" name="Google Shape;159;p28"/>
          <p:cNvSpPr txBox="1"/>
          <p:nvPr/>
        </p:nvSpPr>
        <p:spPr>
          <a:xfrm>
            <a:off x="4788150" y="2772675"/>
            <a:ext cx="4254600" cy="17238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800">
                <a:latin typeface="Times New Roman"/>
                <a:ea typeface="Times New Roman"/>
                <a:cs typeface="Times New Roman"/>
                <a:sym typeface="Times New Roman"/>
              </a:rPr>
              <a:t>10. </a:t>
            </a:r>
            <a:r>
              <a:rPr b="1" i="0" lang="en-US" sz="1800" u="none" cap="none" strike="noStrike">
                <a:solidFill>
                  <a:srgbClr val="000000"/>
                </a:solidFill>
                <a:latin typeface="Times New Roman"/>
                <a:ea typeface="Times New Roman"/>
                <a:cs typeface="Times New Roman"/>
                <a:sym typeface="Times New Roman"/>
              </a:rPr>
              <a:t>Sorting and Recommendation Process</a:t>
            </a:r>
            <a:endParaRPr sz="1600">
              <a:latin typeface="Times New Roman"/>
              <a:ea typeface="Times New Roman"/>
              <a:cs typeface="Times New Roman"/>
              <a:sym typeface="Times New Roman"/>
            </a:endParaRPr>
          </a:p>
          <a:p>
            <a:pPr indent="-330200" lvl="0" marL="457200" marR="0" rtl="0" algn="l">
              <a:lnSpc>
                <a:spcPct val="150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Final score calculated for each candidate paper</a:t>
            </a:r>
            <a:endParaRPr i="0" sz="1600" u="none" cap="none" strike="noStrike">
              <a:solidFill>
                <a:srgbClr val="000000"/>
              </a:solidFill>
              <a:latin typeface="Times New Roman"/>
              <a:ea typeface="Times New Roman"/>
              <a:cs typeface="Times New Roman"/>
              <a:sym typeface="Times New Roman"/>
            </a:endParaRPr>
          </a:p>
          <a:p>
            <a:pPr indent="-330200" lvl="0" marL="457200" marR="0" rtl="0" algn="l">
              <a:lnSpc>
                <a:spcPct val="150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Papers are stored in a list</a:t>
            </a:r>
            <a:endParaRPr i="0" sz="1600" u="none" cap="none" strike="noStrike">
              <a:solidFill>
                <a:srgbClr val="000000"/>
              </a:solidFill>
              <a:latin typeface="Times New Roman"/>
              <a:ea typeface="Times New Roman"/>
              <a:cs typeface="Times New Roman"/>
              <a:sym typeface="Times New Roman"/>
            </a:endParaRPr>
          </a:p>
          <a:p>
            <a:pPr indent="-330200" lvl="0" marL="457200" marR="0" rtl="0" algn="l">
              <a:lnSpc>
                <a:spcPct val="150000"/>
              </a:lnSpc>
              <a:spcBef>
                <a:spcPts val="0"/>
              </a:spcBef>
              <a:spcAft>
                <a:spcPts val="0"/>
              </a:spcAft>
              <a:buClr>
                <a:srgbClr val="000000"/>
              </a:buClr>
              <a:buSzPts val="1600"/>
              <a:buFont typeface="Times New Roman"/>
              <a:buAutoNum type="arabicPeriod"/>
            </a:pPr>
            <a:r>
              <a:rPr i="0" lang="en-US" sz="1600" u="none" cap="none" strike="noStrike">
                <a:solidFill>
                  <a:srgbClr val="000000"/>
                </a:solidFill>
                <a:latin typeface="Times New Roman"/>
                <a:ea typeface="Times New Roman"/>
                <a:cs typeface="Times New Roman"/>
                <a:sym typeface="Times New Roman"/>
              </a:rPr>
              <a:t>List is sorted in descending order</a:t>
            </a:r>
            <a:endParaRPr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nvSpPr>
        <p:spPr>
          <a:xfrm>
            <a:off x="2780484" y="279747"/>
            <a:ext cx="35829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C00000"/>
                </a:solidFill>
                <a:latin typeface="Times New Roman"/>
                <a:ea typeface="Times New Roman"/>
                <a:cs typeface="Times New Roman"/>
                <a:sym typeface="Times New Roman"/>
              </a:rPr>
              <a:t>METHODOLOGY</a:t>
            </a:r>
            <a:endParaRPr b="1" i="0" sz="3200" u="none" cap="none" strike="noStrike">
              <a:solidFill>
                <a:srgbClr val="C00000"/>
              </a:solidFill>
              <a:latin typeface="Times New Roman"/>
              <a:ea typeface="Times New Roman"/>
              <a:cs typeface="Times New Roman"/>
              <a:sym typeface="Times New Roman"/>
            </a:endParaRPr>
          </a:p>
        </p:txBody>
      </p:sp>
      <p:sp>
        <p:nvSpPr>
          <p:cNvPr id="165" name="Google Shape;165;p29"/>
          <p:cNvSpPr txBox="1"/>
          <p:nvPr/>
        </p:nvSpPr>
        <p:spPr>
          <a:xfrm>
            <a:off x="3186600" y="922100"/>
            <a:ext cx="2770800" cy="412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Citation Influence (Using PageRank)</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What it measures: The "authority" of the paper based on who cites it.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Calculation: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The system builds a Directed Graph of all papers.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It runs the PageRank algorithm (iterative calculation) to assign an "Influence Score" to every paper.</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Papers are rewarded not just for number of citations, but for being cited by other important papers.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Percentage Display:</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The raw PageRank value (which is usually a tiny decimal like 0.015) is multiplied by 5000 (to make it readable) and capped at 100%.</a:t>
            </a:r>
            <a:endParaRPr sz="1200">
              <a:solidFill>
                <a:schemeClr val="dk1"/>
              </a:solidFill>
              <a:latin typeface="Times New Roman"/>
              <a:ea typeface="Times New Roman"/>
              <a:cs typeface="Times New Roman"/>
              <a:sym typeface="Times New Roman"/>
            </a:endParaRPr>
          </a:p>
        </p:txBody>
      </p:sp>
      <p:sp>
        <p:nvSpPr>
          <p:cNvPr id="166" name="Google Shape;166;p29"/>
          <p:cNvSpPr txBox="1"/>
          <p:nvPr/>
        </p:nvSpPr>
        <p:spPr>
          <a:xfrm>
            <a:off x="287575" y="922100"/>
            <a:ext cx="2816700" cy="412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Query Relevance (Using TF-IDF Logic)</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What it measures: How well the paper matches your search keywords.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Calculation: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The system splits your query into words (tokens).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For each word, it checks: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Title Match: Worth 10 points.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Keyword Match: Worth 5 points.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Abstract Match: Worth 1 point.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It sums these points up.</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Percentage Display:</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The raw score is multiplied by 5 (capped at 100%).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Example: A score of 20 becomes 100%. A score of 4 becomes 20%.</a:t>
            </a:r>
            <a:endParaRPr sz="1200">
              <a:solidFill>
                <a:schemeClr val="dk1"/>
              </a:solidFill>
              <a:latin typeface="Times New Roman"/>
              <a:ea typeface="Times New Roman"/>
              <a:cs typeface="Times New Roman"/>
              <a:sym typeface="Times New Roman"/>
            </a:endParaRPr>
          </a:p>
        </p:txBody>
      </p:sp>
      <p:sp>
        <p:nvSpPr>
          <p:cNvPr id="167" name="Google Shape;167;p29"/>
          <p:cNvSpPr txBox="1"/>
          <p:nvPr/>
        </p:nvSpPr>
        <p:spPr>
          <a:xfrm>
            <a:off x="6039725" y="922100"/>
            <a:ext cx="2956200" cy="430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Reference Overlap</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What it measures: How many other papers within your own dataset this paper references.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Calculation: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It counts the number of references in the paper's references list that exist in your papers.json file.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Percentage Display:</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The count is multiplied by 10 (capped at 100%).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Example: References 3 internal papers = 30%. References 10+ papers = 100%.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Final Ranking Score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The papers are sorted by a weighted combination: Final Score = (Query Relevance * 1.5) + (Citation Influence * 2.0)</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DATA STRUCTURES USED</a:t>
            </a:r>
            <a:endParaRPr b="1" sz="2400">
              <a:solidFill>
                <a:srgbClr val="C00000"/>
              </a:solidFill>
              <a:latin typeface="Times New Roman"/>
              <a:ea typeface="Times New Roman"/>
              <a:cs typeface="Times New Roman"/>
              <a:sym typeface="Times New Roman"/>
            </a:endParaRPr>
          </a:p>
        </p:txBody>
      </p:sp>
      <p:sp>
        <p:nvSpPr>
          <p:cNvPr id="173" name="Google Shape;173;p30"/>
          <p:cNvSpPr txBox="1"/>
          <p:nvPr>
            <p:ph idx="1" type="body"/>
          </p:nvPr>
        </p:nvSpPr>
        <p:spPr>
          <a:xfrm>
            <a:off x="4643425" y="1048225"/>
            <a:ext cx="3951000" cy="3598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77500" lnSpcReduction="20000"/>
          </a:bodyPr>
          <a:lstStyle/>
          <a:p>
            <a:pPr indent="0" lvl="0" marL="114300" rtl="0" algn="l">
              <a:lnSpc>
                <a:spcPct val="150000"/>
              </a:lnSpc>
              <a:spcBef>
                <a:spcPts val="0"/>
              </a:spcBef>
              <a:spcAft>
                <a:spcPts val="0"/>
              </a:spcAft>
              <a:buNone/>
            </a:pPr>
            <a:r>
              <a:rPr b="1" lang="en-US" sz="2050">
                <a:solidFill>
                  <a:schemeClr val="dk1"/>
                </a:solidFill>
                <a:latin typeface="Times New Roman"/>
                <a:ea typeface="Times New Roman"/>
                <a:cs typeface="Times New Roman"/>
                <a:sym typeface="Times New Roman"/>
              </a:rPr>
              <a:t>Sets </a:t>
            </a:r>
            <a:endParaRPr sz="2050">
              <a:latin typeface="Times New Roman"/>
              <a:ea typeface="Times New Roman"/>
              <a:cs typeface="Times New Roman"/>
              <a:sym typeface="Times New Roman"/>
            </a:endParaRPr>
          </a:p>
          <a:p>
            <a:pPr indent="-318919" lvl="0" marL="457200" rtl="0" algn="l">
              <a:lnSpc>
                <a:spcPct val="150000"/>
              </a:lnSpc>
              <a:spcBef>
                <a:spcPts val="0"/>
              </a:spcBef>
              <a:spcAft>
                <a:spcPts val="0"/>
              </a:spcAft>
              <a:buClr>
                <a:schemeClr val="dk1"/>
              </a:buClr>
              <a:buSzPct val="100000"/>
              <a:buFont typeface="Times New Roman"/>
              <a:buChar char="•"/>
            </a:pPr>
            <a:r>
              <a:rPr lang="en-US" sz="1835">
                <a:solidFill>
                  <a:schemeClr val="dk1"/>
                </a:solidFill>
                <a:latin typeface="Times New Roman"/>
                <a:ea typeface="Times New Roman"/>
                <a:cs typeface="Times New Roman"/>
                <a:sym typeface="Times New Roman"/>
              </a:rPr>
              <a:t>Used to avoid duplicate references during citation analysis </a:t>
            </a:r>
            <a:endParaRPr sz="1835">
              <a:latin typeface="Times New Roman"/>
              <a:ea typeface="Times New Roman"/>
              <a:cs typeface="Times New Roman"/>
              <a:sym typeface="Times New Roman"/>
            </a:endParaRPr>
          </a:p>
          <a:p>
            <a:pPr indent="-318919" lvl="0" marL="457200" rtl="0" algn="l">
              <a:lnSpc>
                <a:spcPct val="150000"/>
              </a:lnSpc>
              <a:spcBef>
                <a:spcPts val="0"/>
              </a:spcBef>
              <a:spcAft>
                <a:spcPts val="0"/>
              </a:spcAft>
              <a:buClr>
                <a:schemeClr val="dk1"/>
              </a:buClr>
              <a:buSzPct val="100000"/>
              <a:buFont typeface="Times New Roman"/>
              <a:buChar char="•"/>
            </a:pPr>
            <a:r>
              <a:rPr lang="en-US" sz="1835">
                <a:solidFill>
                  <a:schemeClr val="dk1"/>
                </a:solidFill>
                <a:latin typeface="Times New Roman"/>
                <a:ea typeface="Times New Roman"/>
                <a:cs typeface="Times New Roman"/>
                <a:sym typeface="Times New Roman"/>
              </a:rPr>
              <a:t>Improve efficiency while computing reference overlaps </a:t>
            </a:r>
            <a:endParaRPr sz="1835">
              <a:latin typeface="Times New Roman"/>
              <a:ea typeface="Times New Roman"/>
              <a:cs typeface="Times New Roman"/>
              <a:sym typeface="Times New Roman"/>
            </a:endParaRPr>
          </a:p>
          <a:p>
            <a:pPr indent="0" lvl="0" marL="114300" rtl="0" algn="l">
              <a:lnSpc>
                <a:spcPct val="150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a:p>
            <a:pPr indent="0" lvl="0" marL="114300" rtl="0" algn="l">
              <a:lnSpc>
                <a:spcPct val="150000"/>
              </a:lnSpc>
              <a:spcBef>
                <a:spcPts val="0"/>
              </a:spcBef>
              <a:spcAft>
                <a:spcPts val="0"/>
              </a:spcAft>
              <a:buNone/>
            </a:pPr>
            <a:r>
              <a:rPr b="1" lang="en-US" sz="2050">
                <a:solidFill>
                  <a:schemeClr val="dk1"/>
                </a:solidFill>
                <a:latin typeface="Times New Roman"/>
                <a:ea typeface="Times New Roman"/>
                <a:cs typeface="Times New Roman"/>
                <a:sym typeface="Times New Roman"/>
              </a:rPr>
              <a:t>Graph Representation (Implicit) </a:t>
            </a:r>
            <a:endParaRPr sz="2050">
              <a:latin typeface="Times New Roman"/>
              <a:ea typeface="Times New Roman"/>
              <a:cs typeface="Times New Roman"/>
              <a:sym typeface="Times New Roman"/>
            </a:endParaRPr>
          </a:p>
          <a:p>
            <a:pPr indent="-317182" lvl="0" marL="457200" rtl="0" algn="l">
              <a:lnSpc>
                <a:spcPct val="150000"/>
              </a:lnSpc>
              <a:spcBef>
                <a:spcPts val="0"/>
              </a:spcBef>
              <a:spcAft>
                <a:spcPts val="0"/>
              </a:spcAft>
              <a:buClr>
                <a:schemeClr val="dk1"/>
              </a:buClr>
              <a:buSzPct val="100000"/>
              <a:buFont typeface="Times New Roman"/>
              <a:buChar char="•"/>
            </a:pPr>
            <a:r>
              <a:rPr lang="en-US">
                <a:solidFill>
                  <a:schemeClr val="dk1"/>
                </a:solidFill>
                <a:latin typeface="Times New Roman"/>
                <a:ea typeface="Times New Roman"/>
                <a:cs typeface="Times New Roman"/>
                <a:sym typeface="Times New Roman"/>
              </a:rPr>
              <a:t>References between papers form a directed graph </a:t>
            </a:r>
            <a:endParaRPr>
              <a:latin typeface="Times New Roman"/>
              <a:ea typeface="Times New Roman"/>
              <a:cs typeface="Times New Roman"/>
              <a:sym typeface="Times New Roman"/>
            </a:endParaRPr>
          </a:p>
          <a:p>
            <a:pPr indent="-317182" lvl="0" marL="457200" rtl="0" algn="l">
              <a:lnSpc>
                <a:spcPct val="150000"/>
              </a:lnSpc>
              <a:spcBef>
                <a:spcPts val="0"/>
              </a:spcBef>
              <a:spcAft>
                <a:spcPts val="0"/>
              </a:spcAft>
              <a:buClr>
                <a:schemeClr val="dk1"/>
              </a:buClr>
              <a:buSzPct val="100000"/>
              <a:buFont typeface="Times New Roman"/>
              <a:buChar char="•"/>
            </a:pPr>
            <a:r>
              <a:rPr lang="en-US">
                <a:solidFill>
                  <a:schemeClr val="dk1"/>
                </a:solidFill>
                <a:latin typeface="Times New Roman"/>
                <a:ea typeface="Times New Roman"/>
                <a:cs typeface="Times New Roman"/>
                <a:sym typeface="Times New Roman"/>
              </a:rPr>
              <a:t>Nodes represent papers </a:t>
            </a:r>
            <a:endParaRPr>
              <a:latin typeface="Times New Roman"/>
              <a:ea typeface="Times New Roman"/>
              <a:cs typeface="Times New Roman"/>
              <a:sym typeface="Times New Roman"/>
            </a:endParaRPr>
          </a:p>
          <a:p>
            <a:pPr indent="-317182" lvl="0" marL="457200" rtl="0" algn="l">
              <a:lnSpc>
                <a:spcPct val="150000"/>
              </a:lnSpc>
              <a:spcBef>
                <a:spcPts val="0"/>
              </a:spcBef>
              <a:spcAft>
                <a:spcPts val="0"/>
              </a:spcAft>
              <a:buClr>
                <a:schemeClr val="dk1"/>
              </a:buClr>
              <a:buSzPct val="100000"/>
              <a:buFont typeface="Times New Roman"/>
              <a:buChar char="•"/>
            </a:pPr>
            <a:r>
              <a:rPr lang="en-US">
                <a:solidFill>
                  <a:schemeClr val="dk1"/>
                </a:solidFill>
                <a:latin typeface="Times New Roman"/>
                <a:ea typeface="Times New Roman"/>
                <a:cs typeface="Times New Roman"/>
                <a:sym typeface="Times New Roman"/>
              </a:rPr>
              <a:t>Edges represent citation relationships </a:t>
            </a:r>
            <a:endParaRPr>
              <a:solidFill>
                <a:schemeClr val="dk1"/>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b="1">
              <a:solidFill>
                <a:schemeClr val="dk1"/>
              </a:solidFill>
              <a:latin typeface="Times New Roman"/>
              <a:ea typeface="Times New Roman"/>
              <a:cs typeface="Times New Roman"/>
              <a:sym typeface="Times New Roman"/>
            </a:endParaRPr>
          </a:p>
        </p:txBody>
      </p:sp>
      <p:sp>
        <p:nvSpPr>
          <p:cNvPr id="174" name="Google Shape;174;p30"/>
          <p:cNvSpPr txBox="1"/>
          <p:nvPr>
            <p:ph idx="1" type="body"/>
          </p:nvPr>
        </p:nvSpPr>
        <p:spPr>
          <a:xfrm>
            <a:off x="152400" y="1035625"/>
            <a:ext cx="3951000" cy="4107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114300" rtl="0" algn="l">
              <a:lnSpc>
                <a:spcPct val="150000"/>
              </a:lnSpc>
              <a:spcBef>
                <a:spcPts val="0"/>
              </a:spcBef>
              <a:spcAft>
                <a:spcPts val="0"/>
              </a:spcAft>
              <a:buClr>
                <a:schemeClr val="dk1"/>
              </a:buClr>
              <a:buSzPct val="97297"/>
              <a:buNone/>
            </a:pPr>
            <a:r>
              <a:rPr b="1" lang="en-US" sz="1850">
                <a:solidFill>
                  <a:schemeClr val="dk1"/>
                </a:solidFill>
                <a:latin typeface="Times New Roman"/>
                <a:ea typeface="Times New Roman"/>
                <a:cs typeface="Times New Roman"/>
                <a:sym typeface="Times New Roman"/>
              </a:rPr>
              <a:t>Lists (Arrays) </a:t>
            </a:r>
            <a:endParaRPr sz="1850">
              <a:latin typeface="Times New Roman"/>
              <a:ea typeface="Times New Roman"/>
              <a:cs typeface="Times New Roman"/>
              <a:sym typeface="Times New Roman"/>
            </a:endParaRPr>
          </a:p>
          <a:p>
            <a:pPr indent="-321066" lvl="0" marL="457200" rtl="0" algn="l">
              <a:lnSpc>
                <a:spcPct val="150000"/>
              </a:lnSpc>
              <a:spcBef>
                <a:spcPts val="0"/>
              </a:spcBef>
              <a:spcAft>
                <a:spcPts val="0"/>
              </a:spcAft>
              <a:buClr>
                <a:schemeClr val="dk1"/>
              </a:buClr>
              <a:buSzPct val="100000"/>
              <a:buFont typeface="Times New Roman"/>
              <a:buChar char="•"/>
            </a:pPr>
            <a:r>
              <a:rPr lang="en-US" sz="1574">
                <a:solidFill>
                  <a:schemeClr val="dk1"/>
                </a:solidFill>
                <a:latin typeface="Times New Roman"/>
                <a:ea typeface="Times New Roman"/>
                <a:cs typeface="Times New Roman"/>
                <a:sym typeface="Times New Roman"/>
              </a:rPr>
              <a:t>Used to store the complete collection of research papers </a:t>
            </a:r>
            <a:endParaRPr sz="1574">
              <a:latin typeface="Times New Roman"/>
              <a:ea typeface="Times New Roman"/>
              <a:cs typeface="Times New Roman"/>
              <a:sym typeface="Times New Roman"/>
            </a:endParaRPr>
          </a:p>
          <a:p>
            <a:pPr indent="-321066" lvl="0" marL="457200" rtl="0" algn="l">
              <a:lnSpc>
                <a:spcPct val="150000"/>
              </a:lnSpc>
              <a:spcBef>
                <a:spcPts val="0"/>
              </a:spcBef>
              <a:spcAft>
                <a:spcPts val="0"/>
              </a:spcAft>
              <a:buClr>
                <a:schemeClr val="dk1"/>
              </a:buClr>
              <a:buSzPct val="100000"/>
              <a:buFont typeface="Times New Roman"/>
              <a:buChar char="•"/>
            </a:pPr>
            <a:r>
              <a:rPr lang="en-US" sz="1574">
                <a:solidFill>
                  <a:schemeClr val="dk1"/>
                </a:solidFill>
                <a:latin typeface="Times New Roman"/>
                <a:ea typeface="Times New Roman"/>
                <a:cs typeface="Times New Roman"/>
                <a:sym typeface="Times New Roman"/>
              </a:rPr>
              <a:t>Enable sequential traversal for keyword matching </a:t>
            </a:r>
            <a:endParaRPr sz="1574">
              <a:latin typeface="Times New Roman"/>
              <a:ea typeface="Times New Roman"/>
              <a:cs typeface="Times New Roman"/>
              <a:sym typeface="Times New Roman"/>
            </a:endParaRPr>
          </a:p>
          <a:p>
            <a:pPr indent="-321066" lvl="0" marL="457200" rtl="0" algn="l">
              <a:lnSpc>
                <a:spcPct val="150000"/>
              </a:lnSpc>
              <a:spcBef>
                <a:spcPts val="0"/>
              </a:spcBef>
              <a:spcAft>
                <a:spcPts val="0"/>
              </a:spcAft>
              <a:buClr>
                <a:schemeClr val="dk1"/>
              </a:buClr>
              <a:buSzPct val="100000"/>
              <a:buFont typeface="Times New Roman"/>
              <a:buChar char="•"/>
            </a:pPr>
            <a:r>
              <a:rPr lang="en-US" sz="1574">
                <a:solidFill>
                  <a:schemeClr val="dk1"/>
                </a:solidFill>
                <a:latin typeface="Times New Roman"/>
                <a:ea typeface="Times New Roman"/>
                <a:cs typeface="Times New Roman"/>
                <a:sym typeface="Times New Roman"/>
              </a:rPr>
              <a:t>Provide efficient iteration for ranking and analytics </a:t>
            </a:r>
            <a:endParaRPr sz="1574">
              <a:latin typeface="Times New Roman"/>
              <a:ea typeface="Times New Roman"/>
              <a:cs typeface="Times New Roman"/>
              <a:sym typeface="Times New Roman"/>
            </a:endParaRPr>
          </a:p>
          <a:p>
            <a:pPr indent="0" lvl="0" marL="114300" rtl="0" algn="l">
              <a:lnSpc>
                <a:spcPct val="150000"/>
              </a:lnSpc>
              <a:spcBef>
                <a:spcPts val="0"/>
              </a:spcBef>
              <a:spcAft>
                <a:spcPts val="0"/>
              </a:spcAft>
              <a:buClr>
                <a:schemeClr val="dk1"/>
              </a:buClr>
              <a:buSzPct val="171428"/>
              <a:buNone/>
            </a:pPr>
            <a:r>
              <a:t/>
            </a:r>
            <a:endParaRPr b="1" sz="1050">
              <a:solidFill>
                <a:schemeClr val="dk1"/>
              </a:solidFill>
              <a:latin typeface="Times New Roman"/>
              <a:ea typeface="Times New Roman"/>
              <a:cs typeface="Times New Roman"/>
              <a:sym typeface="Times New Roman"/>
            </a:endParaRPr>
          </a:p>
          <a:p>
            <a:pPr indent="0" lvl="0" marL="114300" rtl="0" algn="l">
              <a:lnSpc>
                <a:spcPct val="150000"/>
              </a:lnSpc>
              <a:spcBef>
                <a:spcPts val="0"/>
              </a:spcBef>
              <a:spcAft>
                <a:spcPts val="0"/>
              </a:spcAft>
              <a:buClr>
                <a:schemeClr val="dk1"/>
              </a:buClr>
              <a:buSzPct val="97297"/>
              <a:buNone/>
            </a:pPr>
            <a:r>
              <a:rPr b="1" lang="en-US" sz="1850">
                <a:solidFill>
                  <a:schemeClr val="dk1"/>
                </a:solidFill>
                <a:latin typeface="Times New Roman"/>
                <a:ea typeface="Times New Roman"/>
                <a:cs typeface="Times New Roman"/>
                <a:sym typeface="Times New Roman"/>
              </a:rPr>
              <a:t>Hash Maps (Dictionaries) </a:t>
            </a:r>
            <a:endParaRPr sz="1850">
              <a:latin typeface="Times New Roman"/>
              <a:ea typeface="Times New Roman"/>
              <a:cs typeface="Times New Roman"/>
              <a:sym typeface="Times New Roman"/>
            </a:endParaRPr>
          </a:p>
          <a:p>
            <a:pPr indent="-322580" lvl="0" marL="457200" rtl="0" algn="l">
              <a:lnSpc>
                <a:spcPct val="150000"/>
              </a:lnSpc>
              <a:spcBef>
                <a:spcPts val="0"/>
              </a:spcBef>
              <a:spcAft>
                <a:spcPts val="0"/>
              </a:spcAft>
              <a:buClr>
                <a:schemeClr val="dk1"/>
              </a:buClr>
              <a:buSzPct val="100000"/>
              <a:buFont typeface="Times New Roman"/>
              <a:buChar char="•"/>
            </a:pPr>
            <a:r>
              <a:rPr lang="en-US" sz="1600">
                <a:solidFill>
                  <a:schemeClr val="dk1"/>
                </a:solidFill>
                <a:latin typeface="Times New Roman"/>
                <a:ea typeface="Times New Roman"/>
                <a:cs typeface="Times New Roman"/>
                <a:sym typeface="Times New Roman"/>
              </a:rPr>
              <a:t>Used to map paper IDs to paper objects </a:t>
            </a:r>
            <a:endParaRPr sz="1600">
              <a:latin typeface="Times New Roman"/>
              <a:ea typeface="Times New Roman"/>
              <a:cs typeface="Times New Roman"/>
              <a:sym typeface="Times New Roman"/>
            </a:endParaRPr>
          </a:p>
          <a:p>
            <a:pPr indent="-322580" lvl="0" marL="457200" rtl="0" algn="l">
              <a:lnSpc>
                <a:spcPct val="150000"/>
              </a:lnSpc>
              <a:spcBef>
                <a:spcPts val="0"/>
              </a:spcBef>
              <a:spcAft>
                <a:spcPts val="0"/>
              </a:spcAft>
              <a:buClr>
                <a:schemeClr val="dk1"/>
              </a:buClr>
              <a:buSzPct val="100000"/>
              <a:buFont typeface="Times New Roman"/>
              <a:buChar char="•"/>
            </a:pPr>
            <a:r>
              <a:rPr lang="en-US" sz="1600">
                <a:solidFill>
                  <a:schemeClr val="dk1"/>
                </a:solidFill>
                <a:latin typeface="Times New Roman"/>
                <a:ea typeface="Times New Roman"/>
                <a:cs typeface="Times New Roman"/>
                <a:sym typeface="Times New Roman"/>
              </a:rPr>
              <a:t>Enable constant-time lookup of paper metadata </a:t>
            </a:r>
            <a:endParaRPr sz="1600">
              <a:latin typeface="Times New Roman"/>
              <a:ea typeface="Times New Roman"/>
              <a:cs typeface="Times New Roman"/>
              <a:sym typeface="Times New Roman"/>
            </a:endParaRPr>
          </a:p>
          <a:p>
            <a:pPr indent="-346075" lvl="0" marL="457200" rtl="0" algn="l">
              <a:lnSpc>
                <a:spcPct val="150000"/>
              </a:lnSpc>
              <a:spcBef>
                <a:spcPts val="0"/>
              </a:spcBef>
              <a:spcAft>
                <a:spcPts val="0"/>
              </a:spcAft>
              <a:buClr>
                <a:schemeClr val="dk1"/>
              </a:buClr>
              <a:buSzPct val="125000"/>
              <a:buFont typeface="Times New Roman"/>
              <a:buChar char="•"/>
            </a:pPr>
            <a:r>
              <a:rPr lang="en-US" sz="1600">
                <a:solidFill>
                  <a:schemeClr val="dk1"/>
                </a:solidFill>
                <a:latin typeface="Times New Roman"/>
                <a:ea typeface="Times New Roman"/>
                <a:cs typeface="Times New Roman"/>
                <a:sym typeface="Times New Roman"/>
              </a:rPr>
              <a:t>Used to store citation counts dynamically</a:t>
            </a: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DATA STRUCTURES USED</a:t>
            </a:r>
            <a:endParaRPr b="1" sz="2400">
              <a:solidFill>
                <a:srgbClr val="C00000"/>
              </a:solidFill>
              <a:latin typeface="Times New Roman"/>
              <a:ea typeface="Times New Roman"/>
              <a:cs typeface="Times New Roman"/>
              <a:sym typeface="Times New Roman"/>
            </a:endParaRPr>
          </a:p>
        </p:txBody>
      </p:sp>
      <p:sp>
        <p:nvSpPr>
          <p:cNvPr id="180" name="Google Shape;180;p31"/>
          <p:cNvSpPr txBox="1"/>
          <p:nvPr>
            <p:ph idx="1" type="body"/>
          </p:nvPr>
        </p:nvSpPr>
        <p:spPr>
          <a:xfrm>
            <a:off x="0" y="858928"/>
            <a:ext cx="8832300" cy="1854300"/>
          </a:xfrm>
          <a:prstGeom prst="rect">
            <a:avLst/>
          </a:prstGeom>
          <a:noFill/>
          <a:ln>
            <a:noFill/>
          </a:ln>
        </p:spPr>
        <p:txBody>
          <a:bodyPr anchorCtr="0" anchor="t" bIns="91425" lIns="91425" spcFirstLastPara="1" rIns="91425" wrap="square" tIns="91425">
            <a:normAutofit lnSpcReduction="10000"/>
          </a:bodyPr>
          <a:lstStyle/>
          <a:p>
            <a:pPr indent="0" lvl="0" marL="114300" rtl="0" algn="l">
              <a:lnSpc>
                <a:spcPct val="150000"/>
              </a:lnSpc>
              <a:spcBef>
                <a:spcPts val="0"/>
              </a:spcBef>
              <a:spcAft>
                <a:spcPts val="0"/>
              </a:spcAft>
              <a:buClr>
                <a:schemeClr val="dk1"/>
              </a:buClr>
              <a:buSzPts val="1800"/>
              <a:buNone/>
            </a:pPr>
            <a:r>
              <a:rPr b="1" lang="en-US">
                <a:solidFill>
                  <a:schemeClr val="dk1"/>
                </a:solidFill>
                <a:latin typeface="Times New Roman"/>
                <a:ea typeface="Times New Roman"/>
                <a:cs typeface="Times New Roman"/>
                <a:sym typeface="Times New Roman"/>
              </a:rPr>
              <a:t>Justification of Selected Data Structures </a:t>
            </a:r>
            <a:endParaRPr sz="1600"/>
          </a:p>
          <a:p>
            <a:pPr indent="-330200" lvl="0" marL="457200" rtl="0" algn="l">
              <a:lnSpc>
                <a:spcPct val="150000"/>
              </a:lnSpc>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Lists are optimal for datasets that require frequent full scans </a:t>
            </a:r>
            <a:endParaRPr sz="1600"/>
          </a:p>
          <a:p>
            <a:pPr indent="-330200" lvl="0" marL="457200" rtl="0" algn="l">
              <a:lnSpc>
                <a:spcPct val="150000"/>
              </a:lnSpc>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Hash maps ensure fast access to papers by ID, reducing lookup time </a:t>
            </a:r>
            <a:endParaRPr sz="1600"/>
          </a:p>
          <a:p>
            <a:pPr indent="-330200" lvl="0" marL="457200" rtl="0" algn="l">
              <a:lnSpc>
                <a:spcPct val="150000"/>
              </a:lnSpc>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Sets prevent redundancy during reference and keyword analysis </a:t>
            </a:r>
            <a:endParaRPr sz="1600"/>
          </a:p>
          <a:p>
            <a:pPr indent="-330200" lvl="0" marL="457200" rtl="0" algn="l">
              <a:lnSpc>
                <a:spcPct val="150000"/>
              </a:lnSpc>
              <a:spcBef>
                <a:spcPts val="0"/>
              </a:spcBef>
              <a:spcAft>
                <a:spcPts val="0"/>
              </a:spcAft>
              <a:buClr>
                <a:schemeClr val="dk1"/>
              </a:buClr>
              <a:buSzPts val="1600"/>
              <a:buFont typeface="Arial"/>
              <a:buChar char="•"/>
            </a:pPr>
            <a:r>
              <a:rPr lang="en-US" sz="1600">
                <a:solidFill>
                  <a:schemeClr val="dk1"/>
                </a:solidFill>
                <a:latin typeface="Times New Roman"/>
                <a:ea typeface="Times New Roman"/>
                <a:cs typeface="Times New Roman"/>
                <a:sym typeface="Times New Roman"/>
              </a:rPr>
              <a:t>Graph-based relationships enable citation-aware ranking </a:t>
            </a:r>
            <a:endParaRPr sz="1600">
              <a:solidFill>
                <a:schemeClr val="dk1"/>
              </a:solidFill>
              <a:latin typeface="Times New Roman"/>
              <a:ea typeface="Times New Roman"/>
              <a:cs typeface="Times New Roman"/>
              <a:sym typeface="Times New Roman"/>
            </a:endParaRPr>
          </a:p>
        </p:txBody>
      </p:sp>
      <p:sp>
        <p:nvSpPr>
          <p:cNvPr id="181" name="Google Shape;181;p31"/>
          <p:cNvSpPr txBox="1"/>
          <p:nvPr>
            <p:ph idx="1" type="body"/>
          </p:nvPr>
        </p:nvSpPr>
        <p:spPr>
          <a:xfrm>
            <a:off x="0" y="2686700"/>
            <a:ext cx="8709000" cy="2294700"/>
          </a:xfrm>
          <a:prstGeom prst="rect">
            <a:avLst/>
          </a:prstGeom>
          <a:noFill/>
          <a:ln>
            <a:noFill/>
          </a:ln>
        </p:spPr>
        <p:txBody>
          <a:bodyPr anchorCtr="0" anchor="t" bIns="91425" lIns="91425" spcFirstLastPara="1" rIns="91425" wrap="square" tIns="91425">
            <a:normAutofit/>
          </a:bodyPr>
          <a:lstStyle/>
          <a:p>
            <a:pPr indent="0" lvl="0" marL="114300" rtl="0" algn="l">
              <a:lnSpc>
                <a:spcPct val="150000"/>
              </a:lnSpc>
              <a:spcBef>
                <a:spcPts val="0"/>
              </a:spcBef>
              <a:spcAft>
                <a:spcPts val="0"/>
              </a:spcAft>
              <a:buClr>
                <a:schemeClr val="dk1"/>
              </a:buClr>
              <a:buSzPts val="1800"/>
              <a:buNone/>
            </a:pPr>
            <a:r>
              <a:rPr b="1" lang="en-US">
                <a:solidFill>
                  <a:schemeClr val="dk1"/>
                </a:solidFill>
                <a:latin typeface="Times New Roman"/>
                <a:ea typeface="Times New Roman"/>
                <a:cs typeface="Times New Roman"/>
                <a:sym typeface="Times New Roman"/>
              </a:rPr>
              <a:t>The time and space complexity of key operations are as follows:</a:t>
            </a:r>
            <a:r>
              <a:rPr b="1" lang="en-US" sz="1700">
                <a:solidFill>
                  <a:schemeClr val="dk1"/>
                </a:solidFill>
                <a:latin typeface="Times New Roman"/>
                <a:ea typeface="Times New Roman"/>
                <a:cs typeface="Times New Roman"/>
                <a:sym typeface="Times New Roman"/>
              </a:rPr>
              <a:t> </a:t>
            </a:r>
            <a:endParaRPr sz="1700"/>
          </a:p>
          <a:p>
            <a:pPr indent="0" lvl="0" marL="114300" rtl="0" algn="l">
              <a:lnSpc>
                <a:spcPct val="150000"/>
              </a:lnSpc>
              <a:spcBef>
                <a:spcPts val="0"/>
              </a:spcBef>
              <a:spcAft>
                <a:spcPts val="0"/>
              </a:spcAft>
              <a:buClr>
                <a:schemeClr val="dk1"/>
              </a:buClr>
              <a:buSzPts val="1800"/>
              <a:buNone/>
            </a:pPr>
            <a:r>
              <a:t/>
            </a:r>
            <a:endParaRPr b="1" sz="1700">
              <a:solidFill>
                <a:schemeClr val="dk1"/>
              </a:solidFill>
              <a:latin typeface="Times New Roman"/>
              <a:ea typeface="Times New Roman"/>
              <a:cs typeface="Times New Roman"/>
              <a:sym typeface="Times New Roman"/>
            </a:endParaRPr>
          </a:p>
        </p:txBody>
      </p:sp>
      <p:graphicFrame>
        <p:nvGraphicFramePr>
          <p:cNvPr id="182" name="Google Shape;182;p31"/>
          <p:cNvGraphicFramePr/>
          <p:nvPr/>
        </p:nvGraphicFramePr>
        <p:xfrm>
          <a:off x="1368150" y="3127149"/>
          <a:ext cx="3000000" cy="3000000"/>
        </p:xfrm>
        <a:graphic>
          <a:graphicData uri="http://schemas.openxmlformats.org/drawingml/2006/table">
            <a:tbl>
              <a:tblPr bandRow="1" firstRow="1">
                <a:noFill/>
                <a:tableStyleId>{30B8081E-C53F-46DD-AE82-72A89A21623C}</a:tableStyleId>
              </a:tblPr>
              <a:tblGrid>
                <a:gridCol w="3048000"/>
                <a:gridCol w="3048000"/>
              </a:tblGrid>
              <a:tr h="370850">
                <a:tc>
                  <a:txBody>
                    <a:bodyPr/>
                    <a:lstStyle/>
                    <a:p>
                      <a:pPr indent="0" lvl="0" marL="0" marR="0" rtl="0" algn="ctr">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Operation</a:t>
                      </a:r>
                      <a:endParaRPr b="1" sz="18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Complexity</a:t>
                      </a:r>
                      <a:endParaRPr b="1" sz="18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Keyword Search</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O(n)</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Citation Count Computation</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O(n)</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Paper Lookup ID</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O(1)</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Ranking and Sorting</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lang="en-US" sz="1600" u="none" cap="none" strike="noStrike">
                          <a:latin typeface="Times New Roman"/>
                          <a:ea typeface="Times New Roman"/>
                          <a:cs typeface="Times New Roman"/>
                          <a:sym typeface="Times New Roman"/>
                        </a:rPr>
                        <a:t>O(n log n)</a:t>
                      </a:r>
                      <a:endParaRPr sz="1600" u="none" cap="none" strike="noStrike">
                        <a:latin typeface="Times New Roman"/>
                        <a:ea typeface="Times New Roman"/>
                        <a:cs typeface="Times New Roman"/>
                        <a:sym typeface="Times New Roman"/>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IMPLEMENTATION DETAILS</a:t>
            </a:r>
            <a:endParaRPr b="1" sz="2400">
              <a:solidFill>
                <a:srgbClr val="C00000"/>
              </a:solidFill>
              <a:latin typeface="Times New Roman"/>
              <a:ea typeface="Times New Roman"/>
              <a:cs typeface="Times New Roman"/>
              <a:sym typeface="Times New Roman"/>
            </a:endParaRPr>
          </a:p>
        </p:txBody>
      </p:sp>
      <p:sp>
        <p:nvSpPr>
          <p:cNvPr id="188" name="Google Shape;188;p32"/>
          <p:cNvSpPr txBox="1"/>
          <p:nvPr>
            <p:ph idx="1" type="body"/>
          </p:nvPr>
        </p:nvSpPr>
        <p:spPr>
          <a:xfrm>
            <a:off x="0" y="900775"/>
            <a:ext cx="8832300" cy="4105500"/>
          </a:xfrm>
          <a:prstGeom prst="rect">
            <a:avLst/>
          </a:prstGeom>
          <a:noFill/>
          <a:ln>
            <a:noFill/>
          </a:ln>
        </p:spPr>
        <p:txBody>
          <a:bodyPr anchorCtr="0" anchor="t" bIns="91425" lIns="91425" spcFirstLastPara="1" rIns="91425" wrap="square" tIns="91425">
            <a:normAutofit fontScale="92500" lnSpcReduction="20000"/>
          </a:bodyPr>
          <a:lstStyle/>
          <a:p>
            <a:pPr indent="0" lvl="0" marL="114300" rtl="0" algn="l">
              <a:lnSpc>
                <a:spcPct val="150000"/>
              </a:lnSpc>
              <a:spcBef>
                <a:spcPts val="0"/>
              </a:spcBef>
              <a:spcAft>
                <a:spcPts val="0"/>
              </a:spcAft>
              <a:buClr>
                <a:schemeClr val="dk1"/>
              </a:buClr>
              <a:buSzPct val="102418"/>
              <a:buNone/>
            </a:pPr>
            <a:r>
              <a:rPr b="1" lang="en-US" sz="1900">
                <a:solidFill>
                  <a:schemeClr val="dk1"/>
                </a:solidFill>
                <a:latin typeface="Times New Roman"/>
                <a:ea typeface="Times New Roman"/>
                <a:cs typeface="Times New Roman"/>
                <a:sym typeface="Times New Roman"/>
              </a:rPr>
              <a:t>Programming language </a:t>
            </a:r>
            <a:endParaRPr sz="1900"/>
          </a:p>
          <a:p>
            <a:pPr indent="-342900" lvl="0" marL="457200" rtl="0" algn="l">
              <a:lnSpc>
                <a:spcPct val="150000"/>
              </a:lnSpc>
              <a:spcBef>
                <a:spcPts val="0"/>
              </a:spcBef>
              <a:spcAft>
                <a:spcPts val="0"/>
              </a:spcAft>
              <a:buClr>
                <a:schemeClr val="dk1"/>
              </a:buClr>
              <a:buSzPct val="108108"/>
              <a:buFont typeface="Arial"/>
              <a:buChar char="•"/>
            </a:pPr>
            <a:r>
              <a:rPr lang="en-US">
                <a:solidFill>
                  <a:schemeClr val="dk1"/>
                </a:solidFill>
                <a:latin typeface="Times New Roman"/>
                <a:ea typeface="Times New Roman"/>
                <a:cs typeface="Times New Roman"/>
                <a:sym typeface="Times New Roman"/>
              </a:rPr>
              <a:t>Python 3.13.0 is used for implementing data structures and core logic.</a:t>
            </a:r>
            <a:endParaRPr b="1">
              <a:solidFill>
                <a:schemeClr val="dk1"/>
              </a:solidFill>
              <a:latin typeface="Times New Roman"/>
              <a:ea typeface="Times New Roman"/>
              <a:cs typeface="Times New Roman"/>
              <a:sym typeface="Times New Roman"/>
            </a:endParaRPr>
          </a:p>
          <a:p>
            <a:pPr indent="0" lvl="0" marL="114300" rtl="0" algn="l">
              <a:lnSpc>
                <a:spcPct val="150000"/>
              </a:lnSpc>
              <a:spcBef>
                <a:spcPts val="0"/>
              </a:spcBef>
              <a:spcAft>
                <a:spcPts val="0"/>
              </a:spcAft>
              <a:buClr>
                <a:schemeClr val="dk1"/>
              </a:buClr>
              <a:buSzPct val="101982"/>
              <a:buNone/>
            </a:pPr>
            <a:r>
              <a:rPr b="1" lang="en-US" sz="1908">
                <a:solidFill>
                  <a:schemeClr val="dk1"/>
                </a:solidFill>
                <a:latin typeface="Times New Roman"/>
                <a:ea typeface="Times New Roman"/>
                <a:cs typeface="Times New Roman"/>
                <a:sym typeface="Times New Roman"/>
              </a:rPr>
              <a:t>Development environment / tools</a:t>
            </a:r>
            <a:endParaRPr sz="1908"/>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Flask 3.1.2 for backend services</a:t>
            </a:r>
            <a:endParaRPr/>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HTML, CSS, JavaScript for frontend</a:t>
            </a:r>
            <a:endParaRPr>
              <a:solidFill>
                <a:schemeClr val="dk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VS Code as the development environment</a:t>
            </a:r>
            <a:endParaRPr/>
          </a:p>
          <a:p>
            <a:pPr indent="0" lvl="0" marL="114300" rtl="0" algn="l">
              <a:lnSpc>
                <a:spcPct val="150000"/>
              </a:lnSpc>
              <a:spcBef>
                <a:spcPts val="0"/>
              </a:spcBef>
              <a:spcAft>
                <a:spcPts val="0"/>
              </a:spcAft>
              <a:buClr>
                <a:schemeClr val="dk1"/>
              </a:buClr>
              <a:buSzPct val="101982"/>
              <a:buNone/>
            </a:pPr>
            <a:r>
              <a:rPr b="1" lang="en-US" sz="1908">
                <a:solidFill>
                  <a:schemeClr val="dk1"/>
                </a:solidFill>
                <a:latin typeface="Times New Roman"/>
                <a:ea typeface="Times New Roman"/>
                <a:cs typeface="Times New Roman"/>
                <a:sym typeface="Times New Roman"/>
              </a:rPr>
              <a:t>Modular structure of the implementation</a:t>
            </a:r>
            <a:endParaRPr sz="1908"/>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Data loading and storage</a:t>
            </a:r>
            <a:endParaRPr/>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Keyword indexing and search</a:t>
            </a:r>
            <a:endParaRPr/>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Citation analysis and ranking</a:t>
            </a:r>
            <a:endParaRPr/>
          </a:p>
          <a:p>
            <a:pPr indent="-342900" lvl="0" marL="457200" rtl="0" algn="l">
              <a:lnSpc>
                <a:spcPct val="150000"/>
              </a:lnSpc>
              <a:spcBef>
                <a:spcPts val="0"/>
              </a:spcBef>
              <a:spcAft>
                <a:spcPts val="0"/>
              </a:spcAft>
              <a:buSzPct val="108108"/>
              <a:buFont typeface="Arial"/>
              <a:buChar char="•"/>
            </a:pPr>
            <a:r>
              <a:rPr lang="en-US">
                <a:solidFill>
                  <a:schemeClr val="dk1"/>
                </a:solidFill>
                <a:latin typeface="Times New Roman"/>
                <a:ea typeface="Times New Roman"/>
                <a:cs typeface="Times New Roman"/>
                <a:sym typeface="Times New Roman"/>
              </a:rPr>
              <a:t>User request handling</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194" name="Google Shape;194;p33"/>
          <p:cNvSpPr txBox="1"/>
          <p:nvPr>
            <p:ph idx="1" type="body"/>
          </p:nvPr>
        </p:nvSpPr>
        <p:spPr>
          <a:xfrm>
            <a:off x="5750" y="816925"/>
            <a:ext cx="8520600" cy="3439200"/>
          </a:xfrm>
          <a:prstGeom prst="rect">
            <a:avLst/>
          </a:prstGeom>
          <a:noFill/>
          <a:ln>
            <a:noFill/>
          </a:ln>
        </p:spPr>
        <p:txBody>
          <a:bodyPr anchorCtr="0" anchor="t" bIns="91425" lIns="91425" spcFirstLastPara="1" rIns="91425" wrap="square" tIns="91425">
            <a:noAutofit/>
          </a:bodyPr>
          <a:lstStyle/>
          <a:p>
            <a:pPr indent="0" lvl="0" marL="114300" rtl="0" algn="l">
              <a:lnSpc>
                <a:spcPct val="100000"/>
              </a:lnSpc>
              <a:spcBef>
                <a:spcPts val="0"/>
              </a:spcBef>
              <a:spcAft>
                <a:spcPts val="0"/>
              </a:spcAft>
              <a:buClr>
                <a:schemeClr val="dk1"/>
              </a:buClr>
              <a:buSzPts val="1800"/>
              <a:buNone/>
            </a:pPr>
            <a:r>
              <a:rPr b="1" lang="en-US">
                <a:solidFill>
                  <a:schemeClr val="dk1"/>
                </a:solidFill>
                <a:latin typeface="Times New Roman"/>
                <a:ea typeface="Times New Roman"/>
                <a:cs typeface="Times New Roman"/>
                <a:sym typeface="Times New Roman"/>
              </a:rPr>
              <a:t>Testing Strategy Overview</a:t>
            </a:r>
            <a:endParaRPr>
              <a:solidFill>
                <a:schemeClr val="dk1"/>
              </a:solidFill>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1"/>
              </a:buClr>
              <a:buSzPts val="1800"/>
              <a:buNone/>
            </a:pPr>
            <a:r>
              <a:rPr lang="en-US">
                <a:solidFill>
                  <a:schemeClr val="dk1"/>
                </a:solidFill>
                <a:latin typeface="Times New Roman"/>
                <a:ea typeface="Times New Roman"/>
                <a:cs typeface="Times New Roman"/>
                <a:sym typeface="Times New Roman"/>
              </a:rPr>
              <a:t>1.</a:t>
            </a:r>
            <a:r>
              <a:rPr b="1"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Unit Testing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Data Structure Operations: Verify list insertion, hash map lookups, set operations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Keyword Indexing: Test inverted index creation and lookup</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Citation Graph: Validate graph construction and adjacency list correctness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Ranking Functions: Test TF-IDF and PageRank calculations</a:t>
            </a:r>
            <a:endParaRPr sz="1600">
              <a:solidFill>
                <a:schemeClr val="dk1"/>
              </a:solidFill>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1"/>
              </a:buClr>
              <a:buSzPts val="1800"/>
              <a:buNone/>
            </a:pPr>
            <a:r>
              <a:t/>
            </a:r>
            <a:endParaRPr b="1" sz="1600">
              <a:solidFill>
                <a:schemeClr val="dk1"/>
              </a:solidFill>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1"/>
              </a:buClr>
              <a:buSzPts val="1800"/>
              <a:buNone/>
            </a:pPr>
            <a:r>
              <a:rPr lang="en-US" sz="1600">
                <a:solidFill>
                  <a:schemeClr val="dk1"/>
                </a:solidFill>
                <a:latin typeface="Times New Roman"/>
                <a:ea typeface="Times New Roman"/>
                <a:cs typeface="Times New Roman"/>
                <a:sym typeface="Times New Roman"/>
              </a:rPr>
              <a:t>2. Integration Testing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End-to-End Search Flow: User query → retrieval → ranking → recommendation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Data Pipeline: Load papers → build index → build graph → process query</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Cross-module Interaction: Verify correct data passing between modules</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200" name="Google Shape;200;p34"/>
          <p:cNvSpPr txBox="1"/>
          <p:nvPr>
            <p:ph idx="1" type="body"/>
          </p:nvPr>
        </p:nvSpPr>
        <p:spPr>
          <a:xfrm>
            <a:off x="5750" y="944075"/>
            <a:ext cx="9138300" cy="40920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3. Performance Testing</a:t>
            </a:r>
            <a:endParaRPr b="1">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Query Response Time: Measure search latency for various dataset sizes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Memory Usage: Monitor memory during data loading and processing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Scalability: Test with 10 papers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b="1" lang="en-US" sz="1600">
                <a:solidFill>
                  <a:schemeClr val="dk1"/>
                </a:solidFill>
                <a:latin typeface="Times New Roman"/>
                <a:ea typeface="Times New Roman"/>
                <a:cs typeface="Times New Roman"/>
                <a:sym typeface="Times New Roman"/>
              </a:rPr>
              <a:t>Sample Test Cases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Test Case 1: Basic Keyword Search</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Expected Output:</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Papers containing "machine learning" in title/keywords/abstract</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Ranked by relevance score</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Validation:</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Correct papers retrieved </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No false negatives </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Sorted in descending order of score </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5"/>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206" name="Google Shape;206;p35"/>
          <p:cNvSpPr txBox="1"/>
          <p:nvPr>
            <p:ph idx="1" type="body"/>
          </p:nvPr>
        </p:nvSpPr>
        <p:spPr>
          <a:xfrm>
            <a:off x="5750" y="976550"/>
            <a:ext cx="9138300" cy="41265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Test Case 2: Citation-Based Ranking</a:t>
            </a:r>
            <a:endParaRPr b="1">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Input: Two papers with same relevance but different citation counts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Paper A: TF-IDF = 0.85, Citations = 15, PageRank = 0.72</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Paper B: TF-IDF = 0.85, Citations = 5, PageRank = 0.45</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Expected Output: Paper A ranked higher due to citation influence</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Validation: Final Score A &gt; Final Score B ✓</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800"/>
              <a:buNone/>
            </a:pPr>
            <a:r>
              <a:t/>
            </a:r>
            <a:endParaRPr b="1">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Test Case 3: Edge Case - Single Word Query</a:t>
            </a:r>
            <a:endParaRPr b="1">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Input: Query = "learning“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Expected Output: All papers mentioning "learning" (broad retrieval)</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Validation: High recall, papers ranked by IDF weight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212" name="Google Shape;212;p36"/>
          <p:cNvSpPr txBox="1"/>
          <p:nvPr>
            <p:ph idx="1" type="body"/>
          </p:nvPr>
        </p:nvSpPr>
        <p:spPr>
          <a:xfrm>
            <a:off x="5750" y="911600"/>
            <a:ext cx="9138300" cy="41916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Sample Input and Output for researcher query with citations-</a:t>
            </a:r>
            <a:endParaRPr b="1" sz="20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INPUT:</a:t>
            </a:r>
            <a:endParaRPr>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User Mode: Researcher , Query: “graph algorithms"]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PROCESSING: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Tokenize: ["graph", "algorithms"]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Retrieve: [P005, P009, P014]</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Compute combined score:</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TF-IDF: 0.85</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PageRank: 0.68</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Citation weight: log(12+1) = 1.11</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Final = 0.85 + 0.68 + 1.11 = 2.64</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218" name="Google Shape;218;p37"/>
          <p:cNvSpPr txBox="1"/>
          <p:nvPr>
            <p:ph idx="1" type="body"/>
          </p:nvPr>
        </p:nvSpPr>
        <p:spPr>
          <a:xfrm>
            <a:off x="5744" y="726142"/>
            <a:ext cx="9138255" cy="4377018"/>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Sample Input and Output for beginner user query</a:t>
            </a:r>
            <a:endParaRPr b="1" sz="20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INPUT:</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User Mode: Beginner , Query: "data structures“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PROCESSING:</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Tokenize: ["data", "structures"]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Lookup inverted index</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Retrieve matching papers: [P003, P007, P012, P018]</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Compute TF-IDF scores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Sort by relevance</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OUTPUT:</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Rank | Paper ID | Title | Score</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1 | P003 | Data Structures and Algorithms | 0.92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2 | P007 | Advanced Data Structure Analysis | 0.88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3 | P012 | Hash Tables: Design and Implementation | 0.81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4 | P018 | Memory-Efficient Data Structures | 0.76</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TESTING AND VALIDATION</a:t>
            </a:r>
            <a:endParaRPr b="1" sz="2400">
              <a:solidFill>
                <a:srgbClr val="C00000"/>
              </a:solidFill>
              <a:latin typeface="Times New Roman"/>
              <a:ea typeface="Times New Roman"/>
              <a:cs typeface="Times New Roman"/>
              <a:sym typeface="Times New Roman"/>
            </a:endParaRPr>
          </a:p>
        </p:txBody>
      </p:sp>
      <p:sp>
        <p:nvSpPr>
          <p:cNvPr id="224" name="Google Shape;224;p38"/>
          <p:cNvSpPr txBox="1"/>
          <p:nvPr>
            <p:ph idx="1" type="body"/>
          </p:nvPr>
        </p:nvSpPr>
        <p:spPr>
          <a:xfrm>
            <a:off x="5750" y="944075"/>
            <a:ext cx="9138300" cy="42129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lang="en-US" sz="1600">
                <a:solidFill>
                  <a:schemeClr val="dk1"/>
                </a:solidFill>
                <a:latin typeface="Times New Roman"/>
                <a:ea typeface="Times New Roman"/>
                <a:cs typeface="Times New Roman"/>
                <a:sym typeface="Times New Roman"/>
              </a:rPr>
              <a:t>OUTPUT:</a:t>
            </a:r>
            <a:endParaRPr sz="1600">
              <a:solidFill>
                <a:schemeClr val="dk1"/>
              </a:solidFill>
              <a:latin typeface="Times New Roman"/>
              <a:ea typeface="Times New Roman"/>
              <a:cs typeface="Times New Roman"/>
              <a:sym typeface="Times New Roman"/>
            </a:endParaRPr>
          </a:p>
        </p:txBody>
      </p:sp>
      <p:graphicFrame>
        <p:nvGraphicFramePr>
          <p:cNvPr id="225" name="Google Shape;225;p38"/>
          <p:cNvGraphicFramePr/>
          <p:nvPr/>
        </p:nvGraphicFramePr>
        <p:xfrm>
          <a:off x="391725" y="1581950"/>
          <a:ext cx="3000000" cy="3000000"/>
        </p:xfrm>
        <a:graphic>
          <a:graphicData uri="http://schemas.openxmlformats.org/drawingml/2006/table">
            <a:tbl>
              <a:tblPr>
                <a:noFill/>
                <a:tableStyleId>{B507264F-88E3-4761-9C47-0DDB5E57D269}</a:tableStyleId>
              </a:tblPr>
              <a:tblGrid>
                <a:gridCol w="820775"/>
                <a:gridCol w="2034950"/>
                <a:gridCol w="1176725"/>
                <a:gridCol w="1176700"/>
                <a:gridCol w="1360725"/>
                <a:gridCol w="1351425"/>
              </a:tblGrid>
              <a:tr h="345050">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Rank</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 TF-IDF</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 PageRank</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Citations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800">
                          <a:latin typeface="Times New Roman"/>
                          <a:ea typeface="Times New Roman"/>
                          <a:cs typeface="Times New Roman"/>
                          <a:sym typeface="Times New Roman"/>
                        </a:rPr>
                        <a:t>Final Score </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Graph Traversal Algorithms</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0.87</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0.72</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18</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2.87</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Network Flow Optimization</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0.85</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0.65</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14</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2.71</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3</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Shortest Path Algorithms</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0.82</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0.61</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10</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600">
                          <a:latin typeface="Times New Roman"/>
                          <a:ea typeface="Times New Roman"/>
                          <a:cs typeface="Times New Roman"/>
                          <a:sym typeface="Times New Roman"/>
                        </a:rPr>
                        <a:t>2.57</a:t>
                      </a:r>
                      <a:endParaRPr sz="16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9"/>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RESULTS AND ANALYSIS</a:t>
            </a:r>
            <a:endParaRPr b="1" sz="2400">
              <a:solidFill>
                <a:srgbClr val="C00000"/>
              </a:solidFill>
              <a:latin typeface="Times New Roman"/>
              <a:ea typeface="Times New Roman"/>
              <a:cs typeface="Times New Roman"/>
              <a:sym typeface="Times New Roman"/>
            </a:endParaRPr>
          </a:p>
        </p:txBody>
      </p:sp>
      <p:sp>
        <p:nvSpPr>
          <p:cNvPr id="231" name="Google Shape;231;p39"/>
          <p:cNvSpPr txBox="1"/>
          <p:nvPr>
            <p:ph idx="1" type="body"/>
          </p:nvPr>
        </p:nvSpPr>
        <p:spPr>
          <a:xfrm>
            <a:off x="0" y="858169"/>
            <a:ext cx="8520600" cy="3709639"/>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Observed Results</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Faster response time for keyword-based searches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Accurate retrieval of relevant research papers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Stable memory usage during execution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Meaningful ranking based on relevance and citation influence</a:t>
            </a:r>
            <a:endParaRPr sz="1600">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t/>
            </a:r>
            <a:endParaRPr sz="12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Performance Comparison</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Outperforms traditional linear keyword search in lookup speed</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Provides better ranking quality than keyword-only systems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Lower computational overhead compared to ML-based approaches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More transparent and deterministic results</a:t>
            </a:r>
            <a:endParaRPr sz="1600">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1"/>
              </a:buClr>
              <a:buSzPts val="1800"/>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APPLICATIONS OF THE SYSTEM</a:t>
            </a:r>
            <a:endParaRPr b="1" sz="2400">
              <a:solidFill>
                <a:srgbClr val="C00000"/>
              </a:solidFill>
              <a:latin typeface="Times New Roman"/>
              <a:ea typeface="Times New Roman"/>
              <a:cs typeface="Times New Roman"/>
              <a:sym typeface="Times New Roman"/>
            </a:endParaRPr>
          </a:p>
        </p:txBody>
      </p:sp>
      <p:sp>
        <p:nvSpPr>
          <p:cNvPr id="237" name="Google Shape;237;p40"/>
          <p:cNvSpPr txBox="1"/>
          <p:nvPr>
            <p:ph idx="1" type="body"/>
          </p:nvPr>
        </p:nvSpPr>
        <p:spPr>
          <a:xfrm>
            <a:off x="0" y="834826"/>
            <a:ext cx="8520600" cy="4198671"/>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Real-World Applications</a:t>
            </a:r>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Academic search engines and digital libraries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University research and project recommendation portals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Literature survey and scholarly analysis tools</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Practical Relevance of Data Structures</a:t>
            </a:r>
            <a:endParaRPr b="1">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Hash maps enable fast indexing and retrieval</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Graphs model citation and relationship networks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Lists and sets support efficient traversal and duplicate control</a:t>
            </a:r>
            <a:endParaRPr sz="1600">
              <a:solidFill>
                <a:schemeClr val="dk1"/>
              </a:solidFill>
              <a:latin typeface="Times New Roman"/>
              <a:ea typeface="Times New Roman"/>
              <a:cs typeface="Times New Roman"/>
              <a:sym typeface="Times New Roman"/>
            </a:endParaRPr>
          </a:p>
          <a:p>
            <a:pPr indent="0" lvl="0" marL="114300" rtl="0" algn="l">
              <a:lnSpc>
                <a:spcPct val="115000"/>
              </a:lnSpc>
              <a:spcBef>
                <a:spcPts val="0"/>
              </a:spcBef>
              <a:spcAft>
                <a:spcPts val="0"/>
              </a:spcAft>
              <a:buSzPts val="1800"/>
              <a:buNone/>
            </a:pPr>
            <a:r>
              <a:rPr b="1" lang="en-US">
                <a:solidFill>
                  <a:schemeClr val="dk1"/>
                </a:solidFill>
                <a:latin typeface="Times New Roman"/>
                <a:ea typeface="Times New Roman"/>
                <a:cs typeface="Times New Roman"/>
                <a:sym typeface="Times New Roman"/>
              </a:rPr>
              <a:t>Possible Domains of Use</a:t>
            </a:r>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Search and information retrieval systems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Database indexing and query optimization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Arial"/>
              <a:buChar char="•"/>
            </a:pPr>
            <a:r>
              <a:rPr lang="en-US" sz="1600">
                <a:solidFill>
                  <a:schemeClr val="dk1"/>
                </a:solidFill>
                <a:latin typeface="Times New Roman"/>
                <a:ea typeface="Times New Roman"/>
                <a:cs typeface="Times New Roman"/>
                <a:sym typeface="Times New Roman"/>
              </a:rPr>
              <a:t>Recommendation and knowledge discovery systems</a:t>
            </a:r>
            <a:endParaRPr sz="1600"/>
          </a:p>
          <a:p>
            <a:pPr indent="0" lvl="0" marL="114300" rtl="0" algn="l">
              <a:lnSpc>
                <a:spcPct val="100000"/>
              </a:lnSpc>
              <a:spcBef>
                <a:spcPts val="0"/>
              </a:spcBef>
              <a:spcAft>
                <a:spcPts val="0"/>
              </a:spcAft>
              <a:buClr>
                <a:schemeClr val="dk1"/>
              </a:buClr>
              <a:buSzPts val="1800"/>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CONCLUSION</a:t>
            </a:r>
            <a:endParaRPr b="1" sz="2400">
              <a:solidFill>
                <a:srgbClr val="C00000"/>
              </a:solidFill>
              <a:latin typeface="Times New Roman"/>
              <a:ea typeface="Times New Roman"/>
              <a:cs typeface="Times New Roman"/>
              <a:sym typeface="Times New Roman"/>
            </a:endParaRPr>
          </a:p>
        </p:txBody>
      </p:sp>
      <p:sp>
        <p:nvSpPr>
          <p:cNvPr id="243" name="Google Shape;243;p41"/>
          <p:cNvSpPr txBox="1"/>
          <p:nvPr>
            <p:ph idx="1" type="body"/>
          </p:nvPr>
        </p:nvSpPr>
        <p:spPr>
          <a:xfrm>
            <a:off x="0" y="847936"/>
            <a:ext cx="8520600" cy="3709639"/>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The project successfully designed and implemented a research paper recommendation system using appropriate data structures.</a:t>
            </a:r>
            <a:endParaRPr sz="1600">
              <a:latin typeface="Times New Roman"/>
              <a:ea typeface="Times New Roman"/>
              <a:cs typeface="Times New Roman"/>
              <a:sym typeface="Times New Roman"/>
            </a:endParaRPr>
          </a:p>
          <a:p>
            <a:pPr indent="-228600" lvl="0" marL="457200" rtl="0" algn="l">
              <a:lnSpc>
                <a:spcPct val="115000"/>
              </a:lnSpc>
              <a:spcBef>
                <a:spcPts val="0"/>
              </a:spcBef>
              <a:spcAft>
                <a:spcPts val="0"/>
              </a:spcAft>
              <a:buSzPts val="1800"/>
              <a:buFont typeface="Arial"/>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Key learnings include efficient use of hash maps, lists, sets, and graphs to optimize search, retrieval, and ranking operations.</a:t>
            </a:r>
            <a:endParaRPr sz="1600">
              <a:latin typeface="Times New Roman"/>
              <a:ea typeface="Times New Roman"/>
              <a:cs typeface="Times New Roman"/>
              <a:sym typeface="Times New Roman"/>
            </a:endParaRPr>
          </a:p>
          <a:p>
            <a:pPr indent="-228600" lvl="0" marL="457200" rtl="0" algn="l">
              <a:lnSpc>
                <a:spcPct val="115000"/>
              </a:lnSpc>
              <a:spcBef>
                <a:spcPts val="0"/>
              </a:spcBef>
              <a:spcAft>
                <a:spcPts val="0"/>
              </a:spcAft>
              <a:buSzPts val="1800"/>
              <a:buFont typeface="Arial"/>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The proposed solution effectively improves search speed, ranking quality, and scalability compared to traditional approaches.</a:t>
            </a:r>
            <a:endParaRPr sz="1600">
              <a:latin typeface="Times New Roman"/>
              <a:ea typeface="Times New Roman"/>
              <a:cs typeface="Times New Roman"/>
              <a:sym typeface="Times New Roman"/>
            </a:endParaRPr>
          </a:p>
          <a:p>
            <a:pPr indent="-228600" lvl="0" marL="457200" rtl="0" algn="l">
              <a:lnSpc>
                <a:spcPct val="115000"/>
              </a:lnSpc>
              <a:spcBef>
                <a:spcPts val="0"/>
              </a:spcBef>
              <a:spcAft>
                <a:spcPts val="0"/>
              </a:spcAft>
              <a:buSzPts val="1800"/>
              <a:buFont typeface="Arial"/>
              <a:buNone/>
            </a:pPr>
            <a:r>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solidFill>
                  <a:schemeClr val="dk1"/>
                </a:solidFill>
                <a:latin typeface="Times New Roman"/>
                <a:ea typeface="Times New Roman"/>
                <a:cs typeface="Times New Roman"/>
                <a:sym typeface="Times New Roman"/>
              </a:rPr>
              <a:t>All stated objectives—efficient retrieval, citation-aware ranking, and modular design—were successfully achieved.</a:t>
            </a:r>
            <a:endParaRPr sz="1600">
              <a:latin typeface="Times New Roman"/>
              <a:ea typeface="Times New Roman"/>
              <a:cs typeface="Times New Roman"/>
              <a:sym typeface="Times New Roman"/>
            </a:endParaRPr>
          </a:p>
          <a:p>
            <a:pPr indent="0" lvl="0" marL="114300" rtl="0" algn="l">
              <a:lnSpc>
                <a:spcPct val="100000"/>
              </a:lnSpc>
              <a:spcBef>
                <a:spcPts val="0"/>
              </a:spcBef>
              <a:spcAft>
                <a:spcPts val="0"/>
              </a:spcAft>
              <a:buClr>
                <a:schemeClr val="dk1"/>
              </a:buClr>
              <a:buSzPts val="1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2"/>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sz="2400">
                <a:solidFill>
                  <a:srgbClr val="C00000"/>
                </a:solidFill>
                <a:latin typeface="Times New Roman"/>
                <a:ea typeface="Times New Roman"/>
                <a:cs typeface="Times New Roman"/>
                <a:sym typeface="Times New Roman"/>
              </a:rPr>
              <a:t>FUTURE SCOPE</a:t>
            </a:r>
            <a:endParaRPr b="1" sz="2400">
              <a:solidFill>
                <a:srgbClr val="C00000"/>
              </a:solidFill>
              <a:latin typeface="Times New Roman"/>
              <a:ea typeface="Times New Roman"/>
              <a:cs typeface="Times New Roman"/>
              <a:sym typeface="Times New Roman"/>
            </a:endParaRPr>
          </a:p>
        </p:txBody>
      </p:sp>
      <p:sp>
        <p:nvSpPr>
          <p:cNvPr id="249" name="Google Shape;249;p42"/>
          <p:cNvSpPr txBox="1"/>
          <p:nvPr>
            <p:ph idx="1" type="body"/>
          </p:nvPr>
        </p:nvSpPr>
        <p:spPr>
          <a:xfrm>
            <a:off x="0" y="878794"/>
            <a:ext cx="8520600" cy="3709639"/>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Times New Roman"/>
              <a:buChar char="●"/>
            </a:pPr>
            <a:r>
              <a:rPr lang="en-US" sz="1600">
                <a:solidFill>
                  <a:schemeClr val="dk1"/>
                </a:solidFill>
                <a:latin typeface="Times New Roman"/>
                <a:ea typeface="Times New Roman"/>
                <a:cs typeface="Times New Roman"/>
                <a:sym typeface="Times New Roman"/>
              </a:rPr>
              <a:t>Integrate a database-backed storage system to scale the solution for large research datasets.</a:t>
            </a:r>
            <a:endParaRPr sz="1600"/>
          </a:p>
          <a:p>
            <a:pPr indent="-228600" lvl="0" marL="4572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lang="en-US" sz="1600">
                <a:solidFill>
                  <a:schemeClr val="dk1"/>
                </a:solidFill>
                <a:latin typeface="Times New Roman"/>
                <a:ea typeface="Times New Roman"/>
                <a:cs typeface="Times New Roman"/>
                <a:sym typeface="Times New Roman"/>
              </a:rPr>
              <a:t>Adopt advanced data structures such as optimized inverted indexes and graph-based ranking techniques for faster retrieval.</a:t>
            </a:r>
            <a:endParaRPr sz="1600"/>
          </a:p>
          <a:p>
            <a:pPr indent="-228600" lvl="0" marL="457200" rtl="0" algn="l">
              <a:lnSpc>
                <a:spcPct val="115000"/>
              </a:lnSpc>
              <a:spcBef>
                <a:spcPts val="0"/>
              </a:spcBef>
              <a:spcAft>
                <a:spcPts val="0"/>
              </a:spcAft>
              <a:buSzPts val="1800"/>
              <a:buNone/>
            </a:pPr>
            <a:r>
              <a:t/>
            </a:r>
            <a:endParaRPr sz="16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lang="en-US" sz="1600">
                <a:solidFill>
                  <a:schemeClr val="dk1"/>
                </a:solidFill>
                <a:latin typeface="Times New Roman"/>
                <a:ea typeface="Times New Roman"/>
                <a:cs typeface="Times New Roman"/>
                <a:sym typeface="Times New Roman"/>
              </a:rPr>
              <a:t>Enhance the system with semantic search and NLP techniques for better understanding of user queries.</a:t>
            </a:r>
            <a:endParaRPr sz="1600"/>
          </a:p>
          <a:p>
            <a:pPr indent="0" lvl="0" marL="114300" rtl="0" algn="l">
              <a:lnSpc>
                <a:spcPct val="100000"/>
              </a:lnSpc>
              <a:spcBef>
                <a:spcPts val="0"/>
              </a:spcBef>
              <a:spcAft>
                <a:spcPts val="0"/>
              </a:spcAft>
              <a:buClr>
                <a:schemeClr val="dk1"/>
              </a:buClr>
              <a:buSzPts val="1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391725" y="304800"/>
            <a:ext cx="8520600" cy="743415"/>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REFERENCES</a:t>
            </a:r>
            <a:endParaRPr b="1" sz="2400">
              <a:solidFill>
                <a:srgbClr val="C00000"/>
              </a:solidFill>
              <a:latin typeface="Times New Roman"/>
              <a:ea typeface="Times New Roman"/>
              <a:cs typeface="Times New Roman"/>
              <a:sym typeface="Times New Roman"/>
            </a:endParaRPr>
          </a:p>
        </p:txBody>
      </p:sp>
      <p:sp>
        <p:nvSpPr>
          <p:cNvPr id="255" name="Google Shape;255;p43"/>
          <p:cNvSpPr txBox="1"/>
          <p:nvPr>
            <p:ph idx="1" type="body"/>
          </p:nvPr>
        </p:nvSpPr>
        <p:spPr>
          <a:xfrm>
            <a:off x="0" y="954900"/>
            <a:ext cx="8752200" cy="4188600"/>
          </a:xfrm>
          <a:prstGeom prst="rect">
            <a:avLst/>
          </a:prstGeom>
          <a:noFill/>
          <a:ln>
            <a:noFill/>
          </a:ln>
        </p:spPr>
        <p:txBody>
          <a:bodyPr anchorCtr="0" anchor="t" bIns="91425" lIns="91425" spcFirstLastPara="1" rIns="91425" wrap="square" tIns="91425">
            <a:normAutofit/>
          </a:bodyPr>
          <a:lstStyle/>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 Graph-Based Approaches for Information Retrieval. (2022). Journal of</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Intelligent Information Systems. Springer. Available at:</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[2] Graph-Based Document Representation and Retrieval: A Comprehensive</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Framework. (2022). Engineering Applications of Artificial Intelligence. Elsevier.</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Available at:</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[3] Efficient Trie-Based Techniques for Keyword Retrieval. (2018). Proceedings of</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the ACM.</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[4] Hash-Based Indexing Methods for Efficient Information Retrieval. (2019). IEEE</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Conference Proceedings.</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[5] Information Retrieval and Ranking: A Survey of Current Techniques and</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Future Directions. (2023). ACM Computing Surveys.</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[6] Machine Learning for Information Retrieval: Applications in Academic Paper</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Recommendation Systems. (2021). IEEE Transactions on Knowledge and Data</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Engineering.</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[7] Salton, G., Wong, A., &amp; Yang, C. S. (1975). A vector space model for</a:t>
            </a:r>
            <a:endParaRPr>
              <a:solidFill>
                <a:schemeClr val="dk1"/>
              </a:solidFill>
              <a:latin typeface="Times New Roman"/>
              <a:ea typeface="Times New Roman"/>
              <a:cs typeface="Times New Roman"/>
              <a:sym typeface="Times New Roman"/>
            </a:endParaRPr>
          </a:p>
          <a:p>
            <a:pPr indent="0" lvl="0" marL="114300" rtl="0" algn="l">
              <a:lnSpc>
                <a:spcPct val="9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automatic indexing. Communications of the ACM, 18(11), 613–620.</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4"/>
          <p:cNvSpPr txBox="1"/>
          <p:nvPr>
            <p:ph type="title"/>
          </p:nvPr>
        </p:nvSpPr>
        <p:spPr>
          <a:xfrm>
            <a:off x="391725" y="304800"/>
            <a:ext cx="8520600" cy="74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REFERENCES</a:t>
            </a:r>
            <a:endParaRPr b="1" sz="2400">
              <a:solidFill>
                <a:srgbClr val="C00000"/>
              </a:solidFill>
              <a:latin typeface="Times New Roman"/>
              <a:ea typeface="Times New Roman"/>
              <a:cs typeface="Times New Roman"/>
              <a:sym typeface="Times New Roman"/>
            </a:endParaRPr>
          </a:p>
        </p:txBody>
      </p:sp>
      <p:sp>
        <p:nvSpPr>
          <p:cNvPr id="261" name="Google Shape;261;p44"/>
          <p:cNvSpPr txBox="1"/>
          <p:nvPr>
            <p:ph idx="1" type="body"/>
          </p:nvPr>
        </p:nvSpPr>
        <p:spPr>
          <a:xfrm>
            <a:off x="0" y="825025"/>
            <a:ext cx="8752200" cy="4318500"/>
          </a:xfrm>
          <a:prstGeom prst="rect">
            <a:avLst/>
          </a:prstGeom>
          <a:noFill/>
          <a:ln>
            <a:noFill/>
          </a:ln>
        </p:spPr>
        <p:txBody>
          <a:bodyPr anchorCtr="0" anchor="t" bIns="91425" lIns="91425" spcFirstLastPara="1" rIns="91425" wrap="square" tIns="91425">
            <a:normAutofit lnSpcReduction="20000"/>
          </a:bodyPr>
          <a:lstStyle/>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[8] Robertson, S. E., &amp; Zaragoza, H. (2009). The probabilistic relevance</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framework: BM25 and beyond. Foundations and Trends in Information</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Retrieval, 3(4), 333–389.</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[9] Manning, C. D., Raghavan, P., &amp; Sch¨utze, H. (2008). Introduction to</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Information Retrieval. Cambridge University Press.</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[10] Brin, S., &amp; Page, L. (1998). The anatomy of a large-scale hypertextual web</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search engine. Computer Networks and ISDN Systems, 30(1–7), 107–117.</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[11] Page, L., Brin, S., Motwani, R., &amp; Winograd, T. (1999). The PageRank</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citation ranking: Bringing order to the web. Stanford InfoLab Technical Report.</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[12] Haveliwala, T. H. (2002). Topic-sensitive PageRank. In Proceedings of the 11th</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International World Wide Web Conference (WWW), 517–526.</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[13] Kleinberg, J. M. (1999). Authoritative sources in a hyperlinked environment.</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Journal of the ACM, 46(5), 604–632.</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[14] Zhai, C., &amp; Lafferty, J. (2001). A study of smoothing methods for language</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models applied to information retrieval. ACM Transactions on Information</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Systems, 22(2), 179–214.</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5"/>
          <p:cNvSpPr txBox="1"/>
          <p:nvPr>
            <p:ph type="title"/>
          </p:nvPr>
        </p:nvSpPr>
        <p:spPr>
          <a:xfrm>
            <a:off x="391725" y="304800"/>
            <a:ext cx="8520600" cy="74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00">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REFERENCES</a:t>
            </a:r>
            <a:endParaRPr b="1" sz="2400">
              <a:solidFill>
                <a:srgbClr val="C00000"/>
              </a:solidFill>
              <a:latin typeface="Times New Roman"/>
              <a:ea typeface="Times New Roman"/>
              <a:cs typeface="Times New Roman"/>
              <a:sym typeface="Times New Roman"/>
            </a:endParaRPr>
          </a:p>
        </p:txBody>
      </p:sp>
      <p:sp>
        <p:nvSpPr>
          <p:cNvPr id="267" name="Google Shape;267;p45"/>
          <p:cNvSpPr txBox="1"/>
          <p:nvPr>
            <p:ph idx="1" type="body"/>
          </p:nvPr>
        </p:nvSpPr>
        <p:spPr>
          <a:xfrm>
            <a:off x="0" y="795973"/>
            <a:ext cx="8752200" cy="4347600"/>
          </a:xfrm>
          <a:prstGeom prst="rect">
            <a:avLst/>
          </a:prstGeom>
          <a:noFill/>
          <a:ln>
            <a:noFill/>
          </a:ln>
        </p:spPr>
        <p:txBody>
          <a:bodyPr anchorCtr="0" anchor="t" bIns="91425" lIns="91425" spcFirstLastPara="1" rIns="91425" wrap="square" tIns="91425">
            <a:normAutofit lnSpcReduction="20000"/>
          </a:bodyPr>
          <a:lstStyle/>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[15] Mikolov, T., Chen, K., Corrado, G., &amp; Dean, J. (2013). Efficient estimation of</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word representations in vector space. In Proceedings of the International</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Conference on Learning Representations (ICLR).</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[16] Deerwester, S., Dumais, S. T., Furnas, G. W., Landauer, T. K., &amp; Harshman,</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R. (1990). Indexing by latent semantic analysis. Journal of the American</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Society for Information Science, 41(6), 391–407.</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[17] Liu, T. Y. (2009). Learning to rank for information retrieval. Foundations and</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Trends in Information Retrieval, 3(3), 225–331.</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[18] Xu, J., &amp; Croft, W. B. (1996). Query expansion using local and global</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document analysis. In Proceedings of the 19th Annual International ACM</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SIGIR Conference, 4–11.</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[19] Zhou, D., Bousquet, O., Lal, T. N., Weston, J., &amp; Sch¨olkopf, B. (2004).</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Learning with local and global consistency. In Advances in Neural Information</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Processing Systems (NeurIPS).</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None/>
            </a:pPr>
            <a:r>
              <a:rPr lang="en-US">
                <a:solidFill>
                  <a:schemeClr val="dk1"/>
                </a:solidFill>
                <a:latin typeface="Times New Roman"/>
                <a:ea typeface="Times New Roman"/>
                <a:cs typeface="Times New Roman"/>
                <a:sym typeface="Times New Roman"/>
              </a:rPr>
              <a:t>[20] Guo, Q., &amp; Barbosa, D. (2018). Search result diversification based on topic</a:t>
            </a:r>
            <a:endParaRPr>
              <a:solidFill>
                <a:schemeClr val="dk1"/>
              </a:solidFill>
              <a:latin typeface="Times New Roman"/>
              <a:ea typeface="Times New Roman"/>
              <a:cs typeface="Times New Roman"/>
              <a:sym typeface="Times New Roman"/>
            </a:endParaRPr>
          </a:p>
          <a:p>
            <a:pPr indent="0" lvl="0" marL="114300" rtl="0" algn="l">
              <a:lnSpc>
                <a:spcPct val="11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coverage. Information Retrieval Journal, 21(5), 429–452.</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6"/>
          <p:cNvSpPr txBox="1"/>
          <p:nvPr>
            <p:ph idx="1" type="body"/>
          </p:nvPr>
        </p:nvSpPr>
        <p:spPr>
          <a:xfrm>
            <a:off x="253250" y="2129752"/>
            <a:ext cx="8520600" cy="693599"/>
          </a:xfrm>
          <a:prstGeom prst="rect">
            <a:avLst/>
          </a:prstGeom>
          <a:noFill/>
          <a:ln>
            <a:noFill/>
          </a:ln>
        </p:spPr>
        <p:txBody>
          <a:bodyPr anchorCtr="0" anchor="t" bIns="91425" lIns="91425" spcFirstLastPara="1" rIns="91425" wrap="square" tIns="91425">
            <a:noAutofit/>
          </a:bodyPr>
          <a:lstStyle/>
          <a:p>
            <a:pPr indent="0" lvl="0" marL="114300" rtl="0" algn="ctr">
              <a:lnSpc>
                <a:spcPct val="115000"/>
              </a:lnSpc>
              <a:spcBef>
                <a:spcPts val="0"/>
              </a:spcBef>
              <a:spcAft>
                <a:spcPts val="0"/>
              </a:spcAft>
              <a:buSzPts val="1800"/>
              <a:buNone/>
            </a:pPr>
            <a:r>
              <a:rPr lang="en-US" sz="3600">
                <a:solidFill>
                  <a:schemeClr val="dk1"/>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